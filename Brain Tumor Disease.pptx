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1"/>
  </p:notesMasterIdLst>
  <p:sldIdLst>
    <p:sldId id="256" r:id="rId2"/>
    <p:sldId id="257" r:id="rId3"/>
    <p:sldId id="258" r:id="rId4"/>
    <p:sldId id="259" r:id="rId5"/>
    <p:sldId id="260" r:id="rId6"/>
    <p:sldId id="261" r:id="rId7"/>
    <p:sldId id="262" r:id="rId8"/>
    <p:sldId id="263" r:id="rId9"/>
    <p:sldId id="276" r:id="rId10"/>
  </p:sldIdLst>
  <p:sldSz cx="9144000" cy="5143500" type="screen16x9"/>
  <p:notesSz cx="6858000" cy="9144000"/>
  <p:embeddedFontLst>
    <p:embeddedFont>
      <p:font typeface="Montserrat" panose="00000500000000000000" pitchFamily="2" charset="0"/>
      <p:regular r:id="rId12"/>
      <p:bold r:id="rId13"/>
      <p:italic r:id="rId14"/>
      <p:boldItalic r:id="rId15"/>
    </p:embeddedFont>
    <p:embeddedFont>
      <p:font typeface="Raleway"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C71DC1C-F2A6-4487-AFAA-435FEF2B738D}">
          <p14:sldIdLst>
            <p14:sldId id="256"/>
            <p14:sldId id="257"/>
            <p14:sldId id="258"/>
            <p14:sldId id="259"/>
            <p14:sldId id="260"/>
            <p14:sldId id="261"/>
            <p14:sldId id="262"/>
            <p14:sldId id="263"/>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DA99DD-7777-4225-A7B3-599EB736DDA1}">
  <a:tblStyle styleId="{6DDA99DD-7777-4225-A7B3-599EB736DDA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8D87741-5E15-4A2A-B4D7-8974CA1E06C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1762"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2635377fd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2635377fd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e34c71042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e34c71042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e34c710420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e34c71042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e34c710420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e34c710420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1e34786694d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1e34786694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e34c71042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1e34c71042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e34c710420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e34c710420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e21fa792ad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e21fa792ad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588">
            <a:off x="4869324" y="3555644"/>
            <a:ext cx="3506100" cy="426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4869325" y="1161263"/>
            <a:ext cx="3506100" cy="2469900"/>
          </a:xfrm>
          <a:prstGeom prst="rect">
            <a:avLst/>
          </a:prstGeom>
        </p:spPr>
        <p:txBody>
          <a:bodyPr spcFirstLastPara="1" wrap="square" lIns="91425" tIns="91425" rIns="91425" bIns="91425" anchor="ctr" anchorCtr="0">
            <a:noAutofit/>
          </a:bodyPr>
          <a:lstStyle>
            <a:lvl1pPr lvl="0" algn="r" rtl="0">
              <a:lnSpc>
                <a:spcPct val="80000"/>
              </a:lnSpc>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p:nvPr/>
        </p:nvSpPr>
        <p:spPr>
          <a:xfrm>
            <a:off x="3237325" y="46978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70100" y="23626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03050" y="475215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592700" y="40705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864625" y="4725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52800" y="5064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17;p2"/>
          <p:cNvCxnSpPr>
            <a:stCxn id="15" idx="2"/>
            <a:endCxn id="13" idx="6"/>
          </p:cNvCxnSpPr>
          <p:nvPr/>
        </p:nvCxnSpPr>
        <p:spPr>
          <a:xfrm rot="10800000">
            <a:off x="6570125" y="4785750"/>
            <a:ext cx="1294500" cy="0"/>
          </a:xfrm>
          <a:prstGeom prst="straightConnector1">
            <a:avLst/>
          </a:prstGeom>
          <a:noFill/>
          <a:ln w="9525" cap="flat" cmpd="sng">
            <a:solidFill>
              <a:schemeClr val="accent1"/>
            </a:solidFill>
            <a:prstDash val="solid"/>
            <a:round/>
            <a:headEnd type="none" w="med" len="med"/>
            <a:tailEnd type="none" w="med" len="med"/>
          </a:ln>
        </p:spPr>
      </p:cxnSp>
      <p:grpSp>
        <p:nvGrpSpPr>
          <p:cNvPr id="18" name="Google Shape;18;p2"/>
          <p:cNvGrpSpPr/>
          <p:nvPr/>
        </p:nvGrpSpPr>
        <p:grpSpPr>
          <a:xfrm>
            <a:off x="8055650" y="246475"/>
            <a:ext cx="795275" cy="714400"/>
            <a:chOff x="7864625" y="364925"/>
            <a:chExt cx="795275" cy="714400"/>
          </a:xfrm>
        </p:grpSpPr>
        <p:cxnSp>
          <p:nvCxnSpPr>
            <p:cNvPr id="19" name="Google Shape;19;p2"/>
            <p:cNvCxnSpPr>
              <a:stCxn id="20" idx="1"/>
              <a:endCxn id="21"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929550" y="2324100"/>
            <a:ext cx="3791100" cy="1778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83801" y="876075"/>
            <a:ext cx="7974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7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 name="Google Shape;25;p3"/>
          <p:cNvSpPr>
            <a:spLocks noGrp="1"/>
          </p:cNvSpPr>
          <p:nvPr>
            <p:ph type="pic" idx="3"/>
          </p:nvPr>
        </p:nvSpPr>
        <p:spPr>
          <a:xfrm>
            <a:off x="5353050" y="0"/>
            <a:ext cx="3791100" cy="5143500"/>
          </a:xfrm>
          <a:prstGeom prst="rect">
            <a:avLst/>
          </a:prstGeom>
          <a:noFill/>
          <a:ln>
            <a:noFill/>
          </a:ln>
        </p:spPr>
      </p:sp>
      <p:sp>
        <p:nvSpPr>
          <p:cNvPr id="26" name="Google Shape;26;p3"/>
          <p:cNvSpPr/>
          <p:nvPr/>
        </p:nvSpPr>
        <p:spPr>
          <a:xfrm>
            <a:off x="389638" y="48163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a:off x="322350" y="4101900"/>
            <a:ext cx="795275" cy="714400"/>
            <a:chOff x="7864625" y="364925"/>
            <a:chExt cx="795275" cy="714400"/>
          </a:xfrm>
        </p:grpSpPr>
        <p:cxnSp>
          <p:nvCxnSpPr>
            <p:cNvPr id="28" name="Google Shape;28;p3"/>
            <p:cNvCxnSpPr>
              <a:stCxn id="29" idx="1"/>
              <a:endCxn id="30"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9" name="Google Shape;29;p3"/>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sp>
        <p:nvSpPr>
          <p:cNvPr id="49" name="Google Shape;49;p5"/>
          <p:cNvSpPr txBox="1">
            <a:spLocks noGrp="1"/>
          </p:cNvSpPr>
          <p:nvPr>
            <p:ph type="subTitle" idx="1"/>
          </p:nvPr>
        </p:nvSpPr>
        <p:spPr>
          <a:xfrm>
            <a:off x="1152650" y="2599375"/>
            <a:ext cx="3030000" cy="13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 name="Google Shape;50;p5"/>
          <p:cNvSpPr txBox="1">
            <a:spLocks noGrp="1"/>
          </p:cNvSpPr>
          <p:nvPr>
            <p:ph type="subTitle" idx="2"/>
          </p:nvPr>
        </p:nvSpPr>
        <p:spPr>
          <a:xfrm>
            <a:off x="4961426" y="2599375"/>
            <a:ext cx="3030000" cy="13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1" name="Google Shape;51;p5"/>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52" name="Google Shape;52;p5"/>
          <p:cNvSpPr txBox="1">
            <a:spLocks noGrp="1"/>
          </p:cNvSpPr>
          <p:nvPr>
            <p:ph type="title" idx="3"/>
          </p:nvPr>
        </p:nvSpPr>
        <p:spPr>
          <a:xfrm>
            <a:off x="1150484" y="2161825"/>
            <a:ext cx="30345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3" name="Google Shape;53;p5"/>
          <p:cNvSpPr txBox="1">
            <a:spLocks noGrp="1"/>
          </p:cNvSpPr>
          <p:nvPr>
            <p:ph type="title" idx="4"/>
          </p:nvPr>
        </p:nvSpPr>
        <p:spPr>
          <a:xfrm>
            <a:off x="4966318" y="2161825"/>
            <a:ext cx="3020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4" name="Google Shape;54;p5"/>
          <p:cNvSpPr/>
          <p:nvPr/>
        </p:nvSpPr>
        <p:spPr>
          <a:xfrm>
            <a:off x="458950" y="242717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224175" y="31688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686400" y="36763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7555075" y="47692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5382000" y="4657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 name="Google Shape;59;p5"/>
          <p:cNvCxnSpPr>
            <a:stCxn id="56" idx="1"/>
            <a:endCxn id="55" idx="5"/>
          </p:cNvCxnSpPr>
          <p:nvPr/>
        </p:nvCxnSpPr>
        <p:spPr>
          <a:xfrm rot="10800000">
            <a:off x="281641" y="3226316"/>
            <a:ext cx="414600" cy="459900"/>
          </a:xfrm>
          <a:prstGeom prst="straightConnector1">
            <a:avLst/>
          </a:prstGeom>
          <a:noFill/>
          <a:ln w="9525" cap="flat" cmpd="sng">
            <a:solidFill>
              <a:schemeClr val="accent1"/>
            </a:solidFill>
            <a:prstDash val="solid"/>
            <a:round/>
            <a:headEnd type="none" w="med" len="med"/>
            <a:tailEnd type="none" w="med" len="med"/>
          </a:ln>
        </p:spPr>
      </p:cxnSp>
      <p:sp>
        <p:nvSpPr>
          <p:cNvPr id="60" name="Google Shape;60;p5"/>
          <p:cNvSpPr/>
          <p:nvPr/>
        </p:nvSpPr>
        <p:spPr>
          <a:xfrm>
            <a:off x="1991100" y="47243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7802725" y="3518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5"/>
          <p:cNvCxnSpPr>
            <a:stCxn id="61" idx="5"/>
            <a:endCxn id="63" idx="1"/>
          </p:cNvCxnSpPr>
          <p:nvPr/>
        </p:nvCxnSpPr>
        <p:spPr>
          <a:xfrm>
            <a:off x="7906432" y="455532"/>
            <a:ext cx="919200" cy="522900"/>
          </a:xfrm>
          <a:prstGeom prst="straightConnector1">
            <a:avLst/>
          </a:prstGeom>
          <a:noFill/>
          <a:ln w="9525" cap="flat" cmpd="sng">
            <a:solidFill>
              <a:schemeClr val="accent1"/>
            </a:solidFill>
            <a:prstDash val="solid"/>
            <a:round/>
            <a:headEnd type="none" w="med" len="med"/>
            <a:tailEnd type="none" w="med" len="med"/>
          </a:ln>
        </p:spPr>
      </p:cxnSp>
      <p:sp>
        <p:nvSpPr>
          <p:cNvPr id="63" name="Google Shape;63;p5"/>
          <p:cNvSpPr/>
          <p:nvPr/>
        </p:nvSpPr>
        <p:spPr>
          <a:xfrm>
            <a:off x="8815725" y="9686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6" name="Google Shape;66;p6"/>
          <p:cNvSpPr/>
          <p:nvPr/>
        </p:nvSpPr>
        <p:spPr>
          <a:xfrm>
            <a:off x="8621200" y="20476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7997350" y="2778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a:off x="8901450" y="12258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 name="Google Shape;69;p6"/>
          <p:cNvCxnSpPr>
            <a:stCxn id="68" idx="1"/>
            <a:endCxn id="67" idx="5"/>
          </p:cNvCxnSpPr>
          <p:nvPr/>
        </p:nvCxnSpPr>
        <p:spPr>
          <a:xfrm rot="10800000">
            <a:off x="8054791" y="335041"/>
            <a:ext cx="856500" cy="900600"/>
          </a:xfrm>
          <a:prstGeom prst="straightConnector1">
            <a:avLst/>
          </a:prstGeom>
          <a:noFill/>
          <a:ln w="9525" cap="flat" cmpd="sng">
            <a:solidFill>
              <a:schemeClr val="accent1"/>
            </a:solidFill>
            <a:prstDash val="solid"/>
            <a:round/>
            <a:headEnd type="none" w="med" len="med"/>
            <a:tailEnd type="none" w="med" len="med"/>
          </a:ln>
        </p:spPr>
      </p:cxnSp>
      <p:cxnSp>
        <p:nvCxnSpPr>
          <p:cNvPr id="70" name="Google Shape;70;p6"/>
          <p:cNvCxnSpPr>
            <a:stCxn id="68" idx="4"/>
            <a:endCxn id="66" idx="0"/>
          </p:cNvCxnSpPr>
          <p:nvPr/>
        </p:nvCxnSpPr>
        <p:spPr>
          <a:xfrm flipH="1">
            <a:off x="8681850" y="1293000"/>
            <a:ext cx="253200" cy="754500"/>
          </a:xfrm>
          <a:prstGeom prst="straightConnector1">
            <a:avLst/>
          </a:prstGeom>
          <a:noFill/>
          <a:ln w="9525" cap="flat" cmpd="sng">
            <a:solidFill>
              <a:schemeClr val="accent1"/>
            </a:solidFill>
            <a:prstDash val="solid"/>
            <a:round/>
            <a:headEnd type="none" w="med" len="med"/>
            <a:tailEnd type="none" w="med" len="med"/>
          </a:ln>
        </p:spPr>
      </p:cxnSp>
      <p:sp>
        <p:nvSpPr>
          <p:cNvPr id="71" name="Google Shape;71;p6"/>
          <p:cNvSpPr/>
          <p:nvPr/>
        </p:nvSpPr>
        <p:spPr>
          <a:xfrm>
            <a:off x="520875" y="40610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386100" y="46035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1262400" y="47405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a:off x="358950" y="11043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179600" y="162435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8294900" y="47405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a:off x="8774850" y="44239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1789200" y="919200"/>
            <a:ext cx="5565600" cy="1362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720000" y="4000500"/>
            <a:ext cx="7704000" cy="603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0"/>
        <p:cNvGrpSpPr/>
        <p:nvPr/>
      </p:nvGrpSpPr>
      <p:grpSpPr>
        <a:xfrm>
          <a:off x="0" y="0"/>
          <a:ext cx="0" cy="0"/>
          <a:chOff x="0" y="0"/>
          <a:chExt cx="0" cy="0"/>
        </a:xfrm>
      </p:grpSpPr>
      <p:sp>
        <p:nvSpPr>
          <p:cNvPr id="101" name="Google Shape;101;p11"/>
          <p:cNvSpPr txBox="1">
            <a:spLocks noGrp="1"/>
          </p:cNvSpPr>
          <p:nvPr>
            <p:ph type="title" hasCustomPrompt="1"/>
          </p:nvPr>
        </p:nvSpPr>
        <p:spPr>
          <a:xfrm rot="350">
            <a:off x="1625221" y="1694478"/>
            <a:ext cx="5893500" cy="15111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 name="Google Shape;102;p11"/>
          <p:cNvSpPr txBox="1">
            <a:spLocks noGrp="1"/>
          </p:cNvSpPr>
          <p:nvPr>
            <p:ph type="subTitle" idx="1"/>
          </p:nvPr>
        </p:nvSpPr>
        <p:spPr>
          <a:xfrm>
            <a:off x="2458275" y="3176113"/>
            <a:ext cx="4227300" cy="44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1724719" y="1474175"/>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06" name="Google Shape;106;p13"/>
          <p:cNvSpPr txBox="1">
            <a:spLocks noGrp="1"/>
          </p:cNvSpPr>
          <p:nvPr>
            <p:ph type="title" idx="2" hasCustomPrompt="1"/>
          </p:nvPr>
        </p:nvSpPr>
        <p:spPr>
          <a:xfrm rot="4011">
            <a:off x="4829933" y="2659513"/>
            <a:ext cx="514200" cy="59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829916" y="3823126"/>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898226" y="2659663"/>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9" name="Google Shape;109;p13"/>
          <p:cNvSpPr txBox="1">
            <a:spLocks noGrp="1"/>
          </p:cNvSpPr>
          <p:nvPr>
            <p:ph type="title" idx="5"/>
          </p:nvPr>
        </p:nvSpPr>
        <p:spPr>
          <a:xfrm>
            <a:off x="1724719" y="2637764"/>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10" name="Google Shape;110;p13"/>
          <p:cNvSpPr txBox="1">
            <a:spLocks noGrp="1"/>
          </p:cNvSpPr>
          <p:nvPr>
            <p:ph type="title" idx="6"/>
          </p:nvPr>
        </p:nvSpPr>
        <p:spPr>
          <a:xfrm>
            <a:off x="1724719" y="3808677"/>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11" name="Google Shape;111;p13"/>
          <p:cNvSpPr txBox="1">
            <a:spLocks noGrp="1"/>
          </p:cNvSpPr>
          <p:nvPr>
            <p:ph type="title" idx="7"/>
          </p:nvPr>
        </p:nvSpPr>
        <p:spPr>
          <a:xfrm>
            <a:off x="5658576" y="3801352"/>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2" name="Google Shape;112;p13"/>
          <p:cNvSpPr txBox="1">
            <a:spLocks noGrp="1"/>
          </p:cNvSpPr>
          <p:nvPr>
            <p:ph type="title" idx="8"/>
          </p:nvPr>
        </p:nvSpPr>
        <p:spPr>
          <a:xfrm>
            <a:off x="5658576" y="2637764"/>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3" name="Google Shape;113;p13"/>
          <p:cNvSpPr txBox="1">
            <a:spLocks noGrp="1"/>
          </p:cNvSpPr>
          <p:nvPr>
            <p:ph type="title" idx="9"/>
          </p:nvPr>
        </p:nvSpPr>
        <p:spPr>
          <a:xfrm>
            <a:off x="5658576" y="1474175"/>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4" name="Google Shape;114;p13"/>
          <p:cNvSpPr txBox="1">
            <a:spLocks noGrp="1"/>
          </p:cNvSpPr>
          <p:nvPr>
            <p:ph type="title" idx="13" hasCustomPrompt="1"/>
          </p:nvPr>
        </p:nvSpPr>
        <p:spPr>
          <a:xfrm rot="4009">
            <a:off x="4829765" y="1496234"/>
            <a:ext cx="514500" cy="593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5" name="Google Shape;115;p13"/>
          <p:cNvSpPr txBox="1">
            <a:spLocks noGrp="1"/>
          </p:cNvSpPr>
          <p:nvPr>
            <p:ph type="title" idx="14" hasCustomPrompt="1"/>
          </p:nvPr>
        </p:nvSpPr>
        <p:spPr>
          <a:xfrm rot="2006">
            <a:off x="898222" y="1496075"/>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6" name="Google Shape;116;p13"/>
          <p:cNvSpPr txBox="1">
            <a:spLocks noGrp="1"/>
          </p:cNvSpPr>
          <p:nvPr>
            <p:ph type="title" idx="15" hasCustomPrompt="1"/>
          </p:nvPr>
        </p:nvSpPr>
        <p:spPr>
          <a:xfrm rot="2005">
            <a:off x="898081" y="3823264"/>
            <a:ext cx="5145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7" name="Google Shape;117;p13"/>
          <p:cNvSpPr txBox="1">
            <a:spLocks noGrp="1"/>
          </p:cNvSpPr>
          <p:nvPr>
            <p:ph type="title" idx="16"/>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8" name="Google Shape;118;p13"/>
          <p:cNvSpPr/>
          <p:nvPr/>
        </p:nvSpPr>
        <p:spPr>
          <a:xfrm>
            <a:off x="659250" y="48026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277375" y="42790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8498050" y="335647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8263275" y="40981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8725500" y="46056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3" name="Google Shape;123;p13"/>
          <p:cNvCxnSpPr>
            <a:stCxn id="122" idx="1"/>
            <a:endCxn id="121" idx="5"/>
          </p:cNvCxnSpPr>
          <p:nvPr/>
        </p:nvCxnSpPr>
        <p:spPr>
          <a:xfrm rot="10800000">
            <a:off x="8320741" y="4155616"/>
            <a:ext cx="414600" cy="459900"/>
          </a:xfrm>
          <a:prstGeom prst="straightConnector1">
            <a:avLst/>
          </a:prstGeom>
          <a:noFill/>
          <a:ln w="9525" cap="flat" cmpd="sng">
            <a:solidFill>
              <a:schemeClr val="accent1"/>
            </a:solidFill>
            <a:prstDash val="solid"/>
            <a:round/>
            <a:headEnd type="none" w="med" len="med"/>
            <a:tailEnd type="none" w="med" len="med"/>
          </a:ln>
        </p:spPr>
      </p:cxnSp>
      <p:sp>
        <p:nvSpPr>
          <p:cNvPr id="124" name="Google Shape;124;p13"/>
          <p:cNvSpPr/>
          <p:nvPr/>
        </p:nvSpPr>
        <p:spPr>
          <a:xfrm flipH="1">
            <a:off x="8171325" y="29935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5057775" y="1106850"/>
            <a:ext cx="3107700" cy="11115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73" name="Google Shape;173;p21"/>
          <p:cNvSpPr txBox="1">
            <a:spLocks noGrp="1"/>
          </p:cNvSpPr>
          <p:nvPr>
            <p:ph type="subTitle" idx="1"/>
          </p:nvPr>
        </p:nvSpPr>
        <p:spPr>
          <a:xfrm rot="-332">
            <a:off x="5057825" y="2218498"/>
            <a:ext cx="3107700" cy="1818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Char char="●"/>
              <a:defRPr sz="1200"/>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74" name="Google Shape;174;p21"/>
          <p:cNvSpPr>
            <a:spLocks noGrp="1"/>
          </p:cNvSpPr>
          <p:nvPr>
            <p:ph type="pic" idx="2"/>
          </p:nvPr>
        </p:nvSpPr>
        <p:spPr>
          <a:xfrm>
            <a:off x="0" y="0"/>
            <a:ext cx="4572000" cy="5143500"/>
          </a:xfrm>
          <a:prstGeom prst="rect">
            <a:avLst/>
          </a:prstGeom>
          <a:noFill/>
          <a:ln>
            <a:noFill/>
          </a:ln>
        </p:spPr>
      </p:sp>
      <p:sp>
        <p:nvSpPr>
          <p:cNvPr id="175" name="Google Shape;175;p21"/>
          <p:cNvSpPr/>
          <p:nvPr/>
        </p:nvSpPr>
        <p:spPr>
          <a:xfrm>
            <a:off x="5492275" y="199488"/>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88"/>
        <p:cNvGrpSpPr/>
        <p:nvPr/>
      </p:nvGrpSpPr>
      <p:grpSpPr>
        <a:xfrm>
          <a:off x="0" y="0"/>
          <a:ext cx="0" cy="0"/>
          <a:chOff x="0" y="0"/>
          <a:chExt cx="0" cy="0"/>
        </a:xfrm>
      </p:grpSpPr>
      <p:sp>
        <p:nvSpPr>
          <p:cNvPr id="189" name="Google Shape;189;p23"/>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90" name="Google Shape;190;p23"/>
          <p:cNvSpPr txBox="1">
            <a:spLocks noGrp="1"/>
          </p:cNvSpPr>
          <p:nvPr>
            <p:ph type="title" idx="2"/>
          </p:nvPr>
        </p:nvSpPr>
        <p:spPr>
          <a:xfrm>
            <a:off x="720000"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1" name="Google Shape;191;p23"/>
          <p:cNvSpPr txBox="1">
            <a:spLocks noGrp="1"/>
          </p:cNvSpPr>
          <p:nvPr>
            <p:ph type="subTitle" idx="1"/>
          </p:nvPr>
        </p:nvSpPr>
        <p:spPr>
          <a:xfrm>
            <a:off x="720000"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2" name="Google Shape;192;p23"/>
          <p:cNvSpPr txBox="1">
            <a:spLocks noGrp="1"/>
          </p:cNvSpPr>
          <p:nvPr>
            <p:ph type="title" idx="3"/>
          </p:nvPr>
        </p:nvSpPr>
        <p:spPr>
          <a:xfrm>
            <a:off x="3409639"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3" name="Google Shape;193;p23"/>
          <p:cNvSpPr txBox="1">
            <a:spLocks noGrp="1"/>
          </p:cNvSpPr>
          <p:nvPr>
            <p:ph type="subTitle" idx="4"/>
          </p:nvPr>
        </p:nvSpPr>
        <p:spPr>
          <a:xfrm>
            <a:off x="3407389"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4" name="Google Shape;194;p23"/>
          <p:cNvSpPr txBox="1">
            <a:spLocks noGrp="1"/>
          </p:cNvSpPr>
          <p:nvPr>
            <p:ph type="title" idx="5"/>
          </p:nvPr>
        </p:nvSpPr>
        <p:spPr>
          <a:xfrm>
            <a:off x="6087650"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5" name="Google Shape;195;p23"/>
          <p:cNvSpPr txBox="1">
            <a:spLocks noGrp="1"/>
          </p:cNvSpPr>
          <p:nvPr>
            <p:ph type="subTitle" idx="6"/>
          </p:nvPr>
        </p:nvSpPr>
        <p:spPr>
          <a:xfrm>
            <a:off x="6083150"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6" name="Google Shape;196;p23"/>
          <p:cNvSpPr/>
          <p:nvPr/>
        </p:nvSpPr>
        <p:spPr>
          <a:xfrm>
            <a:off x="7820025" y="4201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3"/>
          <p:cNvSpPr/>
          <p:nvPr/>
        </p:nvSpPr>
        <p:spPr>
          <a:xfrm>
            <a:off x="8598950" y="15915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a:off x="6910725" y="45699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5321475" y="46371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3"/>
          <p:cNvSpPr/>
          <p:nvPr/>
        </p:nvSpPr>
        <p:spPr>
          <a:xfrm>
            <a:off x="369350" y="3687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a:off x="396500" y="47819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23"/>
          <p:cNvCxnSpPr>
            <a:stCxn id="201" idx="0"/>
            <a:endCxn id="200" idx="4"/>
          </p:cNvCxnSpPr>
          <p:nvPr/>
        </p:nvCxnSpPr>
        <p:spPr>
          <a:xfrm rot="10800000">
            <a:off x="430100" y="3808475"/>
            <a:ext cx="0" cy="9735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05" name="Google Shape;205;p24"/>
          <p:cNvSpPr txBox="1">
            <a:spLocks noGrp="1"/>
          </p:cNvSpPr>
          <p:nvPr>
            <p:ph type="title" idx="2"/>
          </p:nvPr>
        </p:nvSpPr>
        <p:spPr>
          <a:xfrm>
            <a:off x="1508800" y="1441800"/>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6" name="Google Shape;206;p24"/>
          <p:cNvSpPr txBox="1">
            <a:spLocks noGrp="1"/>
          </p:cNvSpPr>
          <p:nvPr>
            <p:ph type="subTitle" idx="1"/>
          </p:nvPr>
        </p:nvSpPr>
        <p:spPr>
          <a:xfrm>
            <a:off x="1508813" y="1845675"/>
            <a:ext cx="28671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7" name="Google Shape;207;p24"/>
          <p:cNvSpPr txBox="1">
            <a:spLocks noGrp="1"/>
          </p:cNvSpPr>
          <p:nvPr>
            <p:ph type="title" idx="3"/>
          </p:nvPr>
        </p:nvSpPr>
        <p:spPr>
          <a:xfrm>
            <a:off x="5294530" y="1441800"/>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8" name="Google Shape;208;p24"/>
          <p:cNvSpPr txBox="1">
            <a:spLocks noGrp="1"/>
          </p:cNvSpPr>
          <p:nvPr>
            <p:ph type="subTitle" idx="4"/>
          </p:nvPr>
        </p:nvSpPr>
        <p:spPr>
          <a:xfrm>
            <a:off x="5294538" y="1845675"/>
            <a:ext cx="28671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9" name="Google Shape;209;p24"/>
          <p:cNvSpPr txBox="1">
            <a:spLocks noGrp="1"/>
          </p:cNvSpPr>
          <p:nvPr>
            <p:ph type="title" idx="5"/>
          </p:nvPr>
        </p:nvSpPr>
        <p:spPr>
          <a:xfrm>
            <a:off x="1508788" y="3266925"/>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0" name="Google Shape;210;p24"/>
          <p:cNvSpPr txBox="1">
            <a:spLocks noGrp="1"/>
          </p:cNvSpPr>
          <p:nvPr>
            <p:ph type="subTitle" idx="6"/>
          </p:nvPr>
        </p:nvSpPr>
        <p:spPr>
          <a:xfrm>
            <a:off x="1508813" y="3670800"/>
            <a:ext cx="2867100" cy="9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1" name="Google Shape;211;p24"/>
          <p:cNvSpPr txBox="1">
            <a:spLocks noGrp="1"/>
          </p:cNvSpPr>
          <p:nvPr>
            <p:ph type="title" idx="7"/>
          </p:nvPr>
        </p:nvSpPr>
        <p:spPr>
          <a:xfrm>
            <a:off x="5294518" y="3266925"/>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2" name="Google Shape;212;p24"/>
          <p:cNvSpPr txBox="1">
            <a:spLocks noGrp="1"/>
          </p:cNvSpPr>
          <p:nvPr>
            <p:ph type="subTitle" idx="8"/>
          </p:nvPr>
        </p:nvSpPr>
        <p:spPr>
          <a:xfrm>
            <a:off x="5294538" y="3670800"/>
            <a:ext cx="2867100" cy="9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3" name="Google Shape;213;p24"/>
          <p:cNvSpPr/>
          <p:nvPr/>
        </p:nvSpPr>
        <p:spPr>
          <a:xfrm>
            <a:off x="522988" y="26610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4"/>
          <p:cNvSpPr/>
          <p:nvPr/>
        </p:nvSpPr>
        <p:spPr>
          <a:xfrm>
            <a:off x="255138" y="18926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24"/>
          <p:cNvGrpSpPr/>
          <p:nvPr/>
        </p:nvGrpSpPr>
        <p:grpSpPr>
          <a:xfrm>
            <a:off x="322350" y="4101900"/>
            <a:ext cx="795275" cy="714400"/>
            <a:chOff x="7864625" y="364925"/>
            <a:chExt cx="795275" cy="714400"/>
          </a:xfrm>
        </p:grpSpPr>
        <p:cxnSp>
          <p:nvCxnSpPr>
            <p:cNvPr id="216" name="Google Shape;216;p24"/>
            <p:cNvCxnSpPr>
              <a:stCxn id="217" idx="1"/>
              <a:endCxn id="218"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17" name="Google Shape;217;p24"/>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4"/>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24"/>
          <p:cNvSpPr/>
          <p:nvPr/>
        </p:nvSpPr>
        <p:spPr>
          <a:xfrm>
            <a:off x="8765300" y="30727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4"/>
          <p:cNvSpPr/>
          <p:nvPr/>
        </p:nvSpPr>
        <p:spPr>
          <a:xfrm>
            <a:off x="8552563" y="37946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70"/>
        <p:cNvGrpSpPr/>
        <p:nvPr/>
      </p:nvGrpSpPr>
      <p:grpSpPr>
        <a:xfrm>
          <a:off x="0" y="0"/>
          <a:ext cx="0" cy="0"/>
          <a:chOff x="0" y="0"/>
          <a:chExt cx="0" cy="0"/>
        </a:xfrm>
      </p:grpSpPr>
      <p:sp>
        <p:nvSpPr>
          <p:cNvPr id="271" name="Google Shape;271;p28"/>
          <p:cNvSpPr/>
          <p:nvPr/>
        </p:nvSpPr>
        <p:spPr>
          <a:xfrm>
            <a:off x="7820025" y="4201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8"/>
          <p:cNvSpPr/>
          <p:nvPr/>
        </p:nvSpPr>
        <p:spPr>
          <a:xfrm>
            <a:off x="8598950" y="15915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8"/>
          <p:cNvSpPr/>
          <p:nvPr/>
        </p:nvSpPr>
        <p:spPr>
          <a:xfrm>
            <a:off x="6910725" y="45699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a:off x="5321475" y="46371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a:off x="369350" y="3687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8"/>
          <p:cNvSpPr/>
          <p:nvPr/>
        </p:nvSpPr>
        <p:spPr>
          <a:xfrm>
            <a:off x="396500" y="47819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8"/>
          <p:cNvCxnSpPr>
            <a:stCxn id="276" idx="0"/>
            <a:endCxn id="275" idx="4"/>
          </p:cNvCxnSpPr>
          <p:nvPr/>
        </p:nvCxnSpPr>
        <p:spPr>
          <a:xfrm rot="10800000">
            <a:off x="430100" y="3808475"/>
            <a:ext cx="0" cy="9735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78"/>
        <p:cNvGrpSpPr/>
        <p:nvPr/>
      </p:nvGrpSpPr>
      <p:grpSpPr>
        <a:xfrm>
          <a:off x="0" y="0"/>
          <a:ext cx="0" cy="0"/>
          <a:chOff x="0" y="0"/>
          <a:chExt cx="0" cy="0"/>
        </a:xfrm>
      </p:grpSpPr>
      <p:sp>
        <p:nvSpPr>
          <p:cNvPr id="279" name="Google Shape;279;p29"/>
          <p:cNvSpPr/>
          <p:nvPr/>
        </p:nvSpPr>
        <p:spPr>
          <a:xfrm>
            <a:off x="8776725" y="39437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8545375" y="253815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rot="1539014">
            <a:off x="6576323" y="623578"/>
            <a:ext cx="67225" cy="67225"/>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rot="-1205519">
            <a:off x="5571410" y="311949"/>
            <a:ext cx="121387" cy="121387"/>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1623325" y="2446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rot="-675265">
            <a:off x="8749604" y="1662081"/>
            <a:ext cx="121435" cy="12143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5" name="Google Shape;285;p29"/>
          <p:cNvCxnSpPr>
            <a:stCxn id="284" idx="3"/>
            <a:endCxn id="280" idx="0"/>
          </p:cNvCxnSpPr>
          <p:nvPr/>
        </p:nvCxnSpPr>
        <p:spPr>
          <a:xfrm flipH="1">
            <a:off x="8578892" y="1773286"/>
            <a:ext cx="197700" cy="765000"/>
          </a:xfrm>
          <a:prstGeom prst="straightConnector1">
            <a:avLst/>
          </a:prstGeom>
          <a:noFill/>
          <a:ln w="9525" cap="flat" cmpd="sng">
            <a:solidFill>
              <a:schemeClr val="accent1"/>
            </a:solidFill>
            <a:prstDash val="solid"/>
            <a:round/>
            <a:headEnd type="none" w="med" len="med"/>
            <a:tailEnd type="none" w="med" len="med"/>
          </a:ln>
        </p:spPr>
      </p:cxnSp>
      <p:cxnSp>
        <p:nvCxnSpPr>
          <p:cNvPr id="286" name="Google Shape;286;p29"/>
          <p:cNvCxnSpPr>
            <a:stCxn id="280" idx="4"/>
            <a:endCxn id="279" idx="0"/>
          </p:cNvCxnSpPr>
          <p:nvPr/>
        </p:nvCxnSpPr>
        <p:spPr>
          <a:xfrm>
            <a:off x="8578975" y="2605350"/>
            <a:ext cx="231300" cy="1338300"/>
          </a:xfrm>
          <a:prstGeom prst="straightConnector1">
            <a:avLst/>
          </a:prstGeom>
          <a:noFill/>
          <a:ln w="9525" cap="flat" cmpd="sng">
            <a:solidFill>
              <a:schemeClr val="accent1"/>
            </a:solidFill>
            <a:prstDash val="solid"/>
            <a:round/>
            <a:headEnd type="none" w="med" len="med"/>
            <a:tailEnd type="none" w="med" len="med"/>
          </a:ln>
        </p:spPr>
      </p:cxnSp>
      <p:sp>
        <p:nvSpPr>
          <p:cNvPr id="287" name="Google Shape;287;p29"/>
          <p:cNvSpPr/>
          <p:nvPr/>
        </p:nvSpPr>
        <p:spPr>
          <a:xfrm>
            <a:off x="2280550" y="48962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29"/>
          <p:cNvCxnSpPr>
            <a:stCxn id="282" idx="5"/>
            <a:endCxn id="281" idx="2"/>
          </p:cNvCxnSpPr>
          <p:nvPr/>
        </p:nvCxnSpPr>
        <p:spPr>
          <a:xfrm>
            <a:off x="5687152" y="398204"/>
            <a:ext cx="892500" cy="244500"/>
          </a:xfrm>
          <a:prstGeom prst="straightConnector1">
            <a:avLst/>
          </a:prstGeom>
          <a:noFill/>
          <a:ln w="9525" cap="flat" cmpd="sng">
            <a:solidFill>
              <a:schemeClr val="accent1"/>
            </a:solidFill>
            <a:prstDash val="solid"/>
            <a:round/>
            <a:headEnd type="none" w="med" len="med"/>
            <a:tailEnd type="none" w="med" len="med"/>
          </a:ln>
        </p:spPr>
      </p:cxnSp>
      <p:sp>
        <p:nvSpPr>
          <p:cNvPr id="289" name="Google Shape;289;p29"/>
          <p:cNvSpPr/>
          <p:nvPr/>
        </p:nvSpPr>
        <p:spPr>
          <a:xfrm rot="1271060">
            <a:off x="7633692" y="244642"/>
            <a:ext cx="67244" cy="67244"/>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rot="1271060">
            <a:off x="432792" y="2121917"/>
            <a:ext cx="67244" cy="67244"/>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9"/>
          <p:cNvSpPr/>
          <p:nvPr/>
        </p:nvSpPr>
        <p:spPr>
          <a:xfrm rot="1186654">
            <a:off x="206562" y="2693118"/>
            <a:ext cx="121465" cy="12146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2" name="Google Shape;292;p29"/>
          <p:cNvCxnSpPr>
            <a:stCxn id="290" idx="4"/>
            <a:endCxn id="291" idx="0"/>
          </p:cNvCxnSpPr>
          <p:nvPr/>
        </p:nvCxnSpPr>
        <p:spPr>
          <a:xfrm flipH="1">
            <a:off x="287764" y="2186889"/>
            <a:ext cx="166500" cy="5097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rgbClr val="0C0223"/>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 id="2147483657" r:id="rId7"/>
    <p:sldLayoutId id="2147483658" r:id="rId8"/>
    <p:sldLayoutId id="2147483659" r:id="rId9"/>
    <p:sldLayoutId id="2147483667" r:id="rId10"/>
    <p:sldLayoutId id="2147483669" r:id="rId11"/>
    <p:sldLayoutId id="2147483670"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rgbClr val="0C0223"/>
            </a:gs>
          </a:gsLst>
          <a:path path="circle">
            <a:fillToRect l="50000" t="50000" r="50000" b="50000"/>
          </a:path>
          <a:tileRect/>
        </a:gradFill>
        <a:effectLst/>
      </p:bgPr>
    </p:bg>
    <p:spTree>
      <p:nvGrpSpPr>
        <p:cNvPr id="1" name="Shape 302"/>
        <p:cNvGrpSpPr/>
        <p:nvPr/>
      </p:nvGrpSpPr>
      <p:grpSpPr>
        <a:xfrm>
          <a:off x="0" y="0"/>
          <a:ext cx="0" cy="0"/>
          <a:chOff x="0" y="0"/>
          <a:chExt cx="0" cy="0"/>
        </a:xfrm>
      </p:grpSpPr>
      <p:sp>
        <p:nvSpPr>
          <p:cNvPr id="305" name="Google Shape;305;p33"/>
          <p:cNvSpPr/>
          <p:nvPr/>
        </p:nvSpPr>
        <p:spPr>
          <a:xfrm flipH="1">
            <a:off x="564487" y="160675"/>
            <a:ext cx="4090137" cy="5143451"/>
          </a:xfrm>
          <a:custGeom>
            <a:avLst/>
            <a:gdLst/>
            <a:ahLst/>
            <a:cxnLst/>
            <a:rect l="l" t="t" r="r" b="b"/>
            <a:pathLst>
              <a:path w="43452" h="54642" extrusionOk="0">
                <a:moveTo>
                  <a:pt x="10622" y="6323"/>
                </a:moveTo>
                <a:cubicBezTo>
                  <a:pt x="7539" y="8772"/>
                  <a:pt x="4779" y="13102"/>
                  <a:pt x="4248" y="15567"/>
                </a:cubicBezTo>
                <a:cubicBezTo>
                  <a:pt x="3717" y="18031"/>
                  <a:pt x="3806" y="19792"/>
                  <a:pt x="4160" y="22169"/>
                </a:cubicBezTo>
                <a:cubicBezTo>
                  <a:pt x="4514" y="24546"/>
                  <a:pt x="3983" y="26747"/>
                  <a:pt x="2479" y="28595"/>
                </a:cubicBezTo>
                <a:cubicBezTo>
                  <a:pt x="974" y="30445"/>
                  <a:pt x="0" y="31501"/>
                  <a:pt x="1504" y="32556"/>
                </a:cubicBezTo>
                <a:cubicBezTo>
                  <a:pt x="3008" y="33612"/>
                  <a:pt x="4337" y="33790"/>
                  <a:pt x="3894" y="34670"/>
                </a:cubicBezTo>
                <a:cubicBezTo>
                  <a:pt x="3451" y="35550"/>
                  <a:pt x="3280" y="35926"/>
                  <a:pt x="3592" y="36472"/>
                </a:cubicBezTo>
                <a:cubicBezTo>
                  <a:pt x="3907" y="37019"/>
                  <a:pt x="4141" y="37251"/>
                  <a:pt x="4141" y="37251"/>
                </a:cubicBezTo>
                <a:cubicBezTo>
                  <a:pt x="4141" y="37251"/>
                  <a:pt x="3279" y="38422"/>
                  <a:pt x="3749" y="39045"/>
                </a:cubicBezTo>
                <a:cubicBezTo>
                  <a:pt x="4220" y="39670"/>
                  <a:pt x="5160" y="39045"/>
                  <a:pt x="5317" y="40371"/>
                </a:cubicBezTo>
                <a:cubicBezTo>
                  <a:pt x="5475" y="41697"/>
                  <a:pt x="4769" y="43336"/>
                  <a:pt x="6415" y="44272"/>
                </a:cubicBezTo>
                <a:cubicBezTo>
                  <a:pt x="8063" y="45209"/>
                  <a:pt x="12219" y="44272"/>
                  <a:pt x="13867" y="43881"/>
                </a:cubicBezTo>
                <a:cubicBezTo>
                  <a:pt x="15515" y="43490"/>
                  <a:pt x="17162" y="43490"/>
                  <a:pt x="18653" y="47391"/>
                </a:cubicBezTo>
                <a:cubicBezTo>
                  <a:pt x="19612" y="49903"/>
                  <a:pt x="20603" y="52382"/>
                  <a:pt x="20791" y="54642"/>
                </a:cubicBezTo>
                <a:lnTo>
                  <a:pt x="40379" y="54642"/>
                </a:lnTo>
                <a:cubicBezTo>
                  <a:pt x="38522" y="50254"/>
                  <a:pt x="34803" y="41740"/>
                  <a:pt x="35677" y="38265"/>
                </a:cubicBezTo>
                <a:cubicBezTo>
                  <a:pt x="36618" y="34520"/>
                  <a:pt x="40723" y="32937"/>
                  <a:pt x="42087" y="25964"/>
                </a:cubicBezTo>
                <a:cubicBezTo>
                  <a:pt x="43452" y="18991"/>
                  <a:pt x="42953" y="8606"/>
                  <a:pt x="34010" y="4303"/>
                </a:cubicBezTo>
                <a:cubicBezTo>
                  <a:pt x="25068" y="0"/>
                  <a:pt x="15330" y="2582"/>
                  <a:pt x="10622" y="6323"/>
                </a:cubicBezTo>
                <a:close/>
              </a:path>
            </a:pathLst>
          </a:custGeom>
          <a:solidFill>
            <a:srgbClr val="00DBF6">
              <a:alpha val="18350"/>
            </a:srgbClr>
          </a:solidFill>
          <a:ln>
            <a:noFill/>
          </a:ln>
          <a:effectLst>
            <a:outerShdw blurRad="228600" dist="19050" dir="5400000" algn="bl" rotWithShape="0">
              <a:schemeClr val="accent3">
                <a:alpha val="7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3"/>
          <p:cNvGrpSpPr/>
          <p:nvPr/>
        </p:nvGrpSpPr>
        <p:grpSpPr>
          <a:xfrm>
            <a:off x="806673" y="728978"/>
            <a:ext cx="2991294" cy="2549009"/>
            <a:chOff x="930854" y="1021197"/>
            <a:chExt cx="4016237" cy="3422408"/>
          </a:xfrm>
        </p:grpSpPr>
        <p:sp>
          <p:nvSpPr>
            <p:cNvPr id="307" name="Google Shape;307;p33"/>
            <p:cNvSpPr/>
            <p:nvPr/>
          </p:nvSpPr>
          <p:spPr>
            <a:xfrm flipH="1">
              <a:off x="930854" y="1021197"/>
              <a:ext cx="4016237" cy="3422408"/>
            </a:xfrm>
            <a:custGeom>
              <a:avLst/>
              <a:gdLst/>
              <a:ahLst/>
              <a:cxnLst/>
              <a:rect l="l" t="t" r="r" b="b"/>
              <a:pathLst>
                <a:path w="74227" h="63252" extrusionOk="0">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3"/>
            <p:cNvSpPr/>
            <p:nvPr/>
          </p:nvSpPr>
          <p:spPr>
            <a:xfrm flipH="1">
              <a:off x="966727" y="1056475"/>
              <a:ext cx="3944978" cy="3351960"/>
            </a:xfrm>
            <a:custGeom>
              <a:avLst/>
              <a:gdLst/>
              <a:ahLst/>
              <a:cxnLst/>
              <a:rect l="l" t="t" r="r" b="b"/>
              <a:pathLst>
                <a:path w="72910" h="61950" extrusionOk="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3"/>
            <p:cNvSpPr/>
            <p:nvPr/>
          </p:nvSpPr>
          <p:spPr>
            <a:xfrm flipH="1">
              <a:off x="1007687" y="1076332"/>
              <a:ext cx="3826374" cy="3253484"/>
            </a:xfrm>
            <a:custGeom>
              <a:avLst/>
              <a:gdLst/>
              <a:ahLst/>
              <a:cxnLst/>
              <a:rect l="l" t="t" r="r" b="b"/>
              <a:pathLst>
                <a:path w="70718" h="60130" extrusionOk="0">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3"/>
            <p:cNvSpPr/>
            <p:nvPr/>
          </p:nvSpPr>
          <p:spPr>
            <a:xfrm flipH="1">
              <a:off x="1756101" y="1210194"/>
              <a:ext cx="2979267" cy="1743398"/>
            </a:xfrm>
            <a:custGeom>
              <a:avLst/>
              <a:gdLst/>
              <a:ahLst/>
              <a:cxnLst/>
              <a:rect l="l" t="t" r="r" b="b"/>
              <a:pathLst>
                <a:path w="55062" h="32221" extrusionOk="0">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FF003A">
                <a:alpha val="2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p:nvPr/>
          </p:nvSpPr>
          <p:spPr>
            <a:xfrm flipH="1">
              <a:off x="1136947" y="2250684"/>
              <a:ext cx="2754126" cy="1348359"/>
            </a:xfrm>
            <a:custGeom>
              <a:avLst/>
              <a:gdLst/>
              <a:ahLst/>
              <a:cxnLst/>
              <a:rect l="l" t="t" r="r" b="b"/>
              <a:pathLst>
                <a:path w="50901" h="24920" extrusionOk="0">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3"/>
            <p:cNvSpPr/>
            <p:nvPr/>
          </p:nvSpPr>
          <p:spPr>
            <a:xfrm flipH="1">
              <a:off x="2338027" y="1362616"/>
              <a:ext cx="2240429" cy="1375954"/>
            </a:xfrm>
            <a:custGeom>
              <a:avLst/>
              <a:gdLst/>
              <a:ahLst/>
              <a:cxnLst/>
              <a:rect l="l" t="t" r="r" b="b"/>
              <a:pathLst>
                <a:path w="41407" h="25430" extrusionOk="0">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3"/>
            <p:cNvSpPr/>
            <p:nvPr/>
          </p:nvSpPr>
          <p:spPr>
            <a:xfrm flipH="1">
              <a:off x="1152367" y="2357492"/>
              <a:ext cx="2446525" cy="1132632"/>
            </a:xfrm>
            <a:custGeom>
              <a:avLst/>
              <a:gdLst/>
              <a:ahLst/>
              <a:cxnLst/>
              <a:rect l="l" t="t" r="r" b="b"/>
              <a:pathLst>
                <a:path w="45216" h="20933" extrusionOk="0">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3"/>
            <p:cNvSpPr/>
            <p:nvPr/>
          </p:nvSpPr>
          <p:spPr>
            <a:xfrm flipH="1">
              <a:off x="1882655" y="1411421"/>
              <a:ext cx="1334561" cy="792026"/>
            </a:xfrm>
            <a:custGeom>
              <a:avLst/>
              <a:gdLst/>
              <a:ahLst/>
              <a:cxnLst/>
              <a:rect l="l" t="t" r="r" b="b"/>
              <a:pathLst>
                <a:path w="24665" h="14638" extrusionOk="0">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FF003A">
                <a:alpha val="2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3"/>
            <p:cNvSpPr/>
            <p:nvPr/>
          </p:nvSpPr>
          <p:spPr>
            <a:xfrm flipH="1">
              <a:off x="2671597" y="2430051"/>
              <a:ext cx="747820" cy="454990"/>
            </a:xfrm>
            <a:custGeom>
              <a:avLst/>
              <a:gdLst/>
              <a:ahLst/>
              <a:cxnLst/>
              <a:rect l="l" t="t" r="r" b="b"/>
              <a:pathLst>
                <a:path w="13821" h="8409" extrusionOk="0">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3"/>
            <p:cNvSpPr/>
            <p:nvPr/>
          </p:nvSpPr>
          <p:spPr>
            <a:xfrm flipH="1">
              <a:off x="3371372" y="1508382"/>
              <a:ext cx="1037349" cy="1000069"/>
            </a:xfrm>
            <a:custGeom>
              <a:avLst/>
              <a:gdLst/>
              <a:ahLst/>
              <a:cxnLst/>
              <a:rect l="l" t="t" r="r" b="b"/>
              <a:pathLst>
                <a:path w="19172" h="18483" extrusionOk="0">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3"/>
            <p:cNvSpPr/>
            <p:nvPr/>
          </p:nvSpPr>
          <p:spPr>
            <a:xfrm flipH="1">
              <a:off x="3841890" y="1704359"/>
              <a:ext cx="465379" cy="672989"/>
            </a:xfrm>
            <a:custGeom>
              <a:avLst/>
              <a:gdLst/>
              <a:ahLst/>
              <a:cxnLst/>
              <a:rect l="l" t="t" r="r" b="b"/>
              <a:pathLst>
                <a:path w="8601" h="12438" extrusionOk="0">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3"/>
            <p:cNvSpPr/>
            <p:nvPr/>
          </p:nvSpPr>
          <p:spPr>
            <a:xfrm flipH="1">
              <a:off x="1372260" y="2480425"/>
              <a:ext cx="1907127" cy="836718"/>
            </a:xfrm>
            <a:custGeom>
              <a:avLst/>
              <a:gdLst/>
              <a:ahLst/>
              <a:cxnLst/>
              <a:rect l="l" t="t" r="r" b="b"/>
              <a:pathLst>
                <a:path w="35247" h="15464" extrusionOk="0">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3"/>
            <p:cNvSpPr/>
            <p:nvPr/>
          </p:nvSpPr>
          <p:spPr>
            <a:xfrm flipH="1">
              <a:off x="1543779" y="2544651"/>
              <a:ext cx="963059" cy="556874"/>
            </a:xfrm>
            <a:custGeom>
              <a:avLst/>
              <a:gdLst/>
              <a:ahLst/>
              <a:cxnLst/>
              <a:rect l="l" t="t" r="r" b="b"/>
              <a:pathLst>
                <a:path w="17799" h="10292" extrusionOk="0">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3"/>
            <p:cNvSpPr/>
            <p:nvPr/>
          </p:nvSpPr>
          <p:spPr>
            <a:xfrm flipH="1">
              <a:off x="2609373" y="1877450"/>
              <a:ext cx="466353" cy="208693"/>
            </a:xfrm>
            <a:custGeom>
              <a:avLst/>
              <a:gdLst/>
              <a:ahLst/>
              <a:cxnLst/>
              <a:rect l="l" t="t" r="r" b="b"/>
              <a:pathLst>
                <a:path w="8619" h="3857" extrusionOk="0">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FF003A">
                <a:alpha val="48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3"/>
            <p:cNvSpPr/>
            <p:nvPr/>
          </p:nvSpPr>
          <p:spPr>
            <a:xfrm flipH="1">
              <a:off x="1972418" y="1569144"/>
              <a:ext cx="531173" cy="388167"/>
            </a:xfrm>
            <a:custGeom>
              <a:avLst/>
              <a:gdLst/>
              <a:ahLst/>
              <a:cxnLst/>
              <a:rect l="l" t="t" r="r" b="b"/>
              <a:pathLst>
                <a:path w="9817" h="7174" extrusionOk="0">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FF2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flipH="1">
              <a:off x="2456574" y="1424082"/>
              <a:ext cx="807338" cy="255387"/>
            </a:xfrm>
            <a:custGeom>
              <a:avLst/>
              <a:gdLst/>
              <a:ahLst/>
              <a:cxnLst/>
              <a:rect l="l" t="t" r="r" b="b"/>
              <a:pathLst>
                <a:path w="14921" h="4720" extrusionOk="0">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flipH="1">
              <a:off x="1417003" y="1771128"/>
              <a:ext cx="395850" cy="410027"/>
            </a:xfrm>
            <a:custGeom>
              <a:avLst/>
              <a:gdLst/>
              <a:ahLst/>
              <a:cxnLst/>
              <a:rect l="l" t="t" r="r" b="b"/>
              <a:pathLst>
                <a:path w="7316" h="7578" extrusionOk="0">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flipH="1">
              <a:off x="2900147" y="2573869"/>
              <a:ext cx="304896" cy="180124"/>
            </a:xfrm>
            <a:custGeom>
              <a:avLst/>
              <a:gdLst/>
              <a:ahLst/>
              <a:cxnLst/>
              <a:rect l="l" t="t" r="r" b="b"/>
              <a:pathLst>
                <a:path w="5635" h="3329" extrusionOk="0">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flipH="1">
              <a:off x="1682997" y="2632143"/>
              <a:ext cx="577002" cy="359382"/>
            </a:xfrm>
            <a:custGeom>
              <a:avLst/>
              <a:gdLst/>
              <a:ahLst/>
              <a:cxnLst/>
              <a:rect l="l" t="t" r="r" b="b"/>
              <a:pathLst>
                <a:path w="10664" h="6642" extrusionOk="0">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flipH="1">
              <a:off x="3226146" y="2090363"/>
              <a:ext cx="596156" cy="492541"/>
            </a:xfrm>
            <a:custGeom>
              <a:avLst/>
              <a:gdLst/>
              <a:ahLst/>
              <a:cxnLst/>
              <a:rect l="l" t="t" r="r" b="b"/>
              <a:pathLst>
                <a:path w="11018" h="9103" extrusionOk="0">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flipH="1">
              <a:off x="2755085" y="1476458"/>
              <a:ext cx="445088" cy="175687"/>
            </a:xfrm>
            <a:custGeom>
              <a:avLst/>
              <a:gdLst/>
              <a:ahLst/>
              <a:cxnLst/>
              <a:rect l="l" t="t" r="r" b="b"/>
              <a:pathLst>
                <a:path w="8226" h="3247" extrusionOk="0">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flipH="1">
              <a:off x="3476285" y="1534137"/>
              <a:ext cx="344773" cy="248191"/>
            </a:xfrm>
            <a:custGeom>
              <a:avLst/>
              <a:gdLst/>
              <a:ahLst/>
              <a:cxnLst/>
              <a:rect l="l" t="t" r="r" b="b"/>
              <a:pathLst>
                <a:path w="6372" h="4587" extrusionOk="0">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flipH="1">
              <a:off x="1682944" y="3477845"/>
              <a:ext cx="1055746" cy="354242"/>
            </a:xfrm>
            <a:custGeom>
              <a:avLst/>
              <a:gdLst/>
              <a:ahLst/>
              <a:cxnLst/>
              <a:rect l="l" t="t" r="r" b="b"/>
              <a:pathLst>
                <a:path w="19512" h="6547" extrusionOk="0">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flipH="1">
              <a:off x="2267683" y="3818614"/>
              <a:ext cx="409377" cy="460942"/>
            </a:xfrm>
            <a:custGeom>
              <a:avLst/>
              <a:gdLst/>
              <a:ahLst/>
              <a:cxnLst/>
              <a:rect l="l" t="t" r="r" b="b"/>
              <a:pathLst>
                <a:path w="7566" h="8519" extrusionOk="0">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flipH="1">
              <a:off x="1861227" y="3545804"/>
              <a:ext cx="628459" cy="207502"/>
            </a:xfrm>
            <a:custGeom>
              <a:avLst/>
              <a:gdLst/>
              <a:ahLst/>
              <a:cxnLst/>
              <a:rect l="l" t="t" r="r" b="b"/>
              <a:pathLst>
                <a:path w="11615" h="3835" extrusionOk="0">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flipH="1">
              <a:off x="1513585" y="1870686"/>
              <a:ext cx="217025" cy="226602"/>
            </a:xfrm>
            <a:custGeom>
              <a:avLst/>
              <a:gdLst/>
              <a:ahLst/>
              <a:cxnLst/>
              <a:rect l="l" t="t" r="r" b="b"/>
              <a:pathLst>
                <a:path w="4011" h="4188" extrusionOk="0">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flipH="1">
              <a:off x="1567368" y="1951144"/>
              <a:ext cx="97935" cy="54162"/>
            </a:xfrm>
            <a:custGeom>
              <a:avLst/>
              <a:gdLst/>
              <a:ahLst/>
              <a:cxnLst/>
              <a:rect l="l" t="t" r="r" b="b"/>
              <a:pathLst>
                <a:path w="1810" h="1001" extrusionOk="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4" name="Google Shape;334;p33"/>
          <p:cNvSpPr/>
          <p:nvPr/>
        </p:nvSpPr>
        <p:spPr>
          <a:xfrm>
            <a:off x="625650" y="14052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437300" y="40434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1973800" y="48610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3985700" y="6617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33"/>
          <p:cNvGrpSpPr/>
          <p:nvPr/>
        </p:nvGrpSpPr>
        <p:grpSpPr>
          <a:xfrm>
            <a:off x="3628175" y="25500"/>
            <a:ext cx="1961600" cy="1029000"/>
            <a:chOff x="4501725" y="419225"/>
            <a:chExt cx="1961600" cy="1029000"/>
          </a:xfrm>
        </p:grpSpPr>
        <p:sp>
          <p:nvSpPr>
            <p:cNvPr id="339" name="Google Shape;339;p33"/>
            <p:cNvSpPr/>
            <p:nvPr/>
          </p:nvSpPr>
          <p:spPr>
            <a:xfrm>
              <a:off x="5326975" y="13810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6396125" y="4192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4501725" y="13267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2" name="Google Shape;342;p33"/>
            <p:cNvCxnSpPr>
              <a:stCxn id="339" idx="2"/>
              <a:endCxn id="341" idx="6"/>
            </p:cNvCxnSpPr>
            <p:nvPr/>
          </p:nvCxnSpPr>
          <p:spPr>
            <a:xfrm rot="10800000">
              <a:off x="4623175" y="1387325"/>
              <a:ext cx="703800" cy="27300"/>
            </a:xfrm>
            <a:prstGeom prst="straightConnector1">
              <a:avLst/>
            </a:prstGeom>
            <a:noFill/>
            <a:ln w="9525" cap="flat" cmpd="sng">
              <a:solidFill>
                <a:schemeClr val="accent1"/>
              </a:solidFill>
              <a:prstDash val="solid"/>
              <a:round/>
              <a:headEnd type="none" w="med" len="med"/>
              <a:tailEnd type="none" w="med" len="med"/>
            </a:ln>
          </p:spPr>
        </p:cxnSp>
        <p:cxnSp>
          <p:nvCxnSpPr>
            <p:cNvPr id="343" name="Google Shape;343;p33"/>
            <p:cNvCxnSpPr>
              <a:stCxn id="340" idx="3"/>
              <a:endCxn id="339" idx="7"/>
            </p:cNvCxnSpPr>
            <p:nvPr/>
          </p:nvCxnSpPr>
          <p:spPr>
            <a:xfrm flipH="1">
              <a:off x="5384466" y="476584"/>
              <a:ext cx="1021500" cy="914400"/>
            </a:xfrm>
            <a:prstGeom prst="straightConnector1">
              <a:avLst/>
            </a:prstGeom>
            <a:noFill/>
            <a:ln w="9525" cap="flat" cmpd="sng">
              <a:solidFill>
                <a:schemeClr val="accent1"/>
              </a:solidFill>
              <a:prstDash val="solid"/>
              <a:round/>
              <a:headEnd type="none" w="med" len="med"/>
              <a:tailEnd type="none" w="med" len="med"/>
            </a:ln>
          </p:spPr>
        </p:cxnSp>
      </p:grpSp>
      <p:cxnSp>
        <p:nvCxnSpPr>
          <p:cNvPr id="344" name="Google Shape;344;p33"/>
          <p:cNvCxnSpPr>
            <a:stCxn id="335" idx="5"/>
            <a:endCxn id="336" idx="2"/>
          </p:cNvCxnSpPr>
          <p:nvPr/>
        </p:nvCxnSpPr>
        <p:spPr>
          <a:xfrm>
            <a:off x="541007" y="4147132"/>
            <a:ext cx="1432800" cy="747600"/>
          </a:xfrm>
          <a:prstGeom prst="straightConnector1">
            <a:avLst/>
          </a:prstGeom>
          <a:noFill/>
          <a:ln w="9525" cap="flat" cmpd="sng">
            <a:solidFill>
              <a:schemeClr val="accent1"/>
            </a:solidFill>
            <a:prstDash val="solid"/>
            <a:round/>
            <a:headEnd type="none" w="med" len="med"/>
            <a:tailEnd type="none" w="med" len="med"/>
          </a:ln>
        </p:spPr>
      </p:cxnSp>
      <p:sp>
        <p:nvSpPr>
          <p:cNvPr id="304" name="Google Shape;304;p33"/>
          <p:cNvSpPr txBox="1">
            <a:spLocks noGrp="1"/>
          </p:cNvSpPr>
          <p:nvPr>
            <p:ph type="ctrTitle"/>
          </p:nvPr>
        </p:nvSpPr>
        <p:spPr>
          <a:xfrm>
            <a:off x="4101422" y="92699"/>
            <a:ext cx="4708041" cy="5050801"/>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US" sz="2800" dirty="0">
                <a:solidFill>
                  <a:schemeClr val="tx1"/>
                </a:solidFill>
              </a:rPr>
              <a:t>Brain Tumor Detection </a:t>
            </a:r>
            <a:br>
              <a:rPr lang="en-US" sz="1600" dirty="0">
                <a:solidFill>
                  <a:schemeClr val="tx1"/>
                </a:solidFill>
              </a:rPr>
            </a:br>
            <a:r>
              <a:rPr lang="en-US" sz="1800" dirty="0">
                <a:solidFill>
                  <a:schemeClr val="tx1"/>
                </a:solidFill>
              </a:rPr>
              <a:t>Using Tensor Flow</a:t>
            </a:r>
            <a:br>
              <a:rPr lang="en-US" sz="1800" dirty="0">
                <a:solidFill>
                  <a:schemeClr val="tx1"/>
                </a:solidFill>
              </a:rPr>
            </a:br>
            <a:br>
              <a:rPr lang="en-US" sz="1800" dirty="0">
                <a:solidFill>
                  <a:schemeClr val="tx1"/>
                </a:solidFill>
              </a:rPr>
            </a:br>
            <a:br>
              <a:rPr lang="en-US" sz="1800" dirty="0">
                <a:solidFill>
                  <a:schemeClr val="tx1"/>
                </a:solidFill>
              </a:rPr>
            </a:br>
            <a:br>
              <a:rPr lang="en-US" sz="1800" dirty="0">
                <a:solidFill>
                  <a:schemeClr val="tx1"/>
                </a:solidFill>
              </a:rPr>
            </a:br>
            <a:r>
              <a:rPr lang="en-IN" sz="1600" dirty="0"/>
              <a:t>SUPERVISOR : DR. JOSEPH SUNDARAM</a:t>
            </a:r>
            <a:br>
              <a:rPr lang="en-IN" sz="1600" dirty="0"/>
            </a:br>
            <a:br>
              <a:rPr lang="en-IN" sz="1600" dirty="0"/>
            </a:br>
            <a:br>
              <a:rPr lang="en-IN" sz="1600" dirty="0"/>
            </a:br>
            <a:br>
              <a:rPr lang="en-IN" sz="1600" dirty="0"/>
            </a:br>
            <a:br>
              <a:rPr lang="en-IN" sz="1600" dirty="0"/>
            </a:br>
            <a:br>
              <a:rPr lang="en-IN" sz="1600" dirty="0"/>
            </a:br>
            <a:r>
              <a:rPr lang="en-IN" sz="1800" dirty="0"/>
              <a:t>D. Nithya– AP23110020058</a:t>
            </a:r>
            <a:br>
              <a:rPr lang="en-IN" sz="1800" dirty="0"/>
            </a:br>
            <a:r>
              <a:rPr lang="en-IN" sz="1800" dirty="0" err="1"/>
              <a:t>T.Kavya</a:t>
            </a:r>
            <a:r>
              <a:rPr lang="en-IN" sz="1800" dirty="0"/>
              <a:t> – AP23110020056 </a:t>
            </a:r>
            <a:br>
              <a:rPr lang="en-IN" sz="1800" dirty="0"/>
            </a:br>
            <a:r>
              <a:rPr lang="en-IN" sz="1800" dirty="0"/>
              <a:t>K. Deeksha – AP23110020064 </a:t>
            </a:r>
            <a:br>
              <a:rPr lang="en-IN" sz="1800" dirty="0"/>
            </a:br>
            <a:r>
              <a:rPr lang="en-IN" sz="1800" dirty="0"/>
              <a:t>R. Manvitha – AP23110020134 </a:t>
            </a:r>
            <a:br>
              <a:rPr lang="en-IN" sz="1800" dirty="0"/>
            </a:br>
            <a:r>
              <a:rPr lang="en-IN" sz="1800" dirty="0"/>
              <a:t>K. Manasa Sri– AP23110020135 </a:t>
            </a:r>
            <a:br>
              <a:rPr lang="en-IN" sz="1800" dirty="0"/>
            </a:br>
            <a:r>
              <a:rPr lang="en-IN" sz="1800" dirty="0"/>
              <a:t>P. Maneesha– AP23110020138</a:t>
            </a:r>
            <a:endParaRPr sz="1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6"/>
                </a:solidFill>
              </a:rPr>
              <a:t>INTRODUCTION</a:t>
            </a:r>
            <a:endParaRPr dirty="0">
              <a:solidFill>
                <a:schemeClr val="accent6"/>
              </a:solidFill>
            </a:endParaRPr>
          </a:p>
        </p:txBody>
      </p:sp>
      <p:sp>
        <p:nvSpPr>
          <p:cNvPr id="352" name="Google Shape;352;p34"/>
          <p:cNvSpPr txBox="1"/>
          <p:nvPr/>
        </p:nvSpPr>
        <p:spPr>
          <a:xfrm>
            <a:off x="3223901" y="3962225"/>
            <a:ext cx="1738500" cy="46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1000" b="1" u="sng" dirty="0">
              <a:solidFill>
                <a:schemeClr val="accent6"/>
              </a:solidFill>
              <a:latin typeface="Raleway"/>
              <a:ea typeface="Raleway"/>
              <a:cs typeface="Raleway"/>
              <a:sym typeface="Raleway"/>
            </a:endParaRPr>
          </a:p>
        </p:txBody>
      </p:sp>
      <p:sp>
        <p:nvSpPr>
          <p:cNvPr id="353" name="Google Shape;353;p34"/>
          <p:cNvSpPr txBox="1"/>
          <p:nvPr/>
        </p:nvSpPr>
        <p:spPr>
          <a:xfrm>
            <a:off x="5015101" y="3962225"/>
            <a:ext cx="3408900" cy="46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1000" b="1" dirty="0">
              <a:solidFill>
                <a:schemeClr val="accent6"/>
              </a:solidFill>
              <a:latin typeface="Raleway"/>
              <a:ea typeface="Raleway"/>
              <a:cs typeface="Raleway"/>
              <a:sym typeface="Raleway"/>
            </a:endParaRPr>
          </a:p>
        </p:txBody>
      </p:sp>
      <p:pic>
        <p:nvPicPr>
          <p:cNvPr id="1028" name="Picture 4" descr="22,100+ Brain Tumor Stock Photos, Pictures &amp; Royalty-Free ...">
            <a:extLst>
              <a:ext uri="{FF2B5EF4-FFF2-40B4-BE49-F238E27FC236}">
                <a16:creationId xmlns:a16="http://schemas.microsoft.com/office/drawing/2014/main" id="{A0964FCA-4A47-29D8-ED9F-6D792F700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9318" y="238125"/>
            <a:ext cx="4084820" cy="4828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7CAA223-C67B-637F-8773-2B4F08852E09}"/>
              </a:ext>
            </a:extLst>
          </p:cNvPr>
          <p:cNvSpPr txBox="1"/>
          <p:nvPr/>
        </p:nvSpPr>
        <p:spPr>
          <a:xfrm>
            <a:off x="209862" y="1878316"/>
            <a:ext cx="4586756" cy="2308324"/>
          </a:xfrm>
          <a:prstGeom prst="rect">
            <a:avLst/>
          </a:prstGeom>
          <a:noFill/>
        </p:spPr>
        <p:txBody>
          <a:bodyPr wrap="square">
            <a:spAutoFit/>
          </a:bodyPr>
          <a:lstStyle/>
          <a:p>
            <a:r>
              <a:rPr lang="en-US" sz="1800" dirty="0">
                <a:solidFill>
                  <a:schemeClr val="tx1"/>
                </a:solidFill>
              </a:rPr>
              <a:t>Tumor detection is vital for early diagnosis and treatment. Manual analysis of medical images can be slow and error-prone. Using TensorFlow, a powerful AI tool, we can train models to detect tumors in MRI or CT scans accurately. This helps doctors make faster and more reliable decisions, improving patient care.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19" name="TextBox 18">
            <a:extLst>
              <a:ext uri="{FF2B5EF4-FFF2-40B4-BE49-F238E27FC236}">
                <a16:creationId xmlns:a16="http://schemas.microsoft.com/office/drawing/2014/main" id="{F96511FA-834F-ED98-3BD6-F171B4F2D769}"/>
              </a:ext>
            </a:extLst>
          </p:cNvPr>
          <p:cNvSpPr txBox="1"/>
          <p:nvPr/>
        </p:nvSpPr>
        <p:spPr>
          <a:xfrm>
            <a:off x="412228" y="386795"/>
            <a:ext cx="6400801" cy="707886"/>
          </a:xfrm>
          <a:prstGeom prst="rect">
            <a:avLst/>
          </a:prstGeom>
          <a:noFill/>
        </p:spPr>
        <p:txBody>
          <a:bodyPr wrap="square">
            <a:spAutoFit/>
          </a:bodyPr>
          <a:lstStyle/>
          <a:p>
            <a:r>
              <a:rPr lang="en-US" sz="4000" dirty="0">
                <a:solidFill>
                  <a:schemeClr val="accent6"/>
                </a:solidFill>
              </a:rPr>
              <a:t>PROBLEM STATEMENT</a:t>
            </a:r>
          </a:p>
        </p:txBody>
      </p:sp>
      <p:sp>
        <p:nvSpPr>
          <p:cNvPr id="21" name="TextBox 20">
            <a:extLst>
              <a:ext uri="{FF2B5EF4-FFF2-40B4-BE49-F238E27FC236}">
                <a16:creationId xmlns:a16="http://schemas.microsoft.com/office/drawing/2014/main" id="{59D49491-639B-B08A-4866-3743EC2D0AC2}"/>
              </a:ext>
            </a:extLst>
          </p:cNvPr>
          <p:cNvSpPr txBox="1"/>
          <p:nvPr/>
        </p:nvSpPr>
        <p:spPr>
          <a:xfrm>
            <a:off x="412228" y="1448365"/>
            <a:ext cx="8439464" cy="2554545"/>
          </a:xfrm>
          <a:prstGeom prst="rect">
            <a:avLst/>
          </a:prstGeom>
          <a:noFill/>
        </p:spPr>
        <p:txBody>
          <a:bodyPr wrap="square">
            <a:spAutoFit/>
          </a:bodyPr>
          <a:lstStyle/>
          <a:p>
            <a:r>
              <a:rPr lang="en-US" sz="2000" dirty="0">
                <a:solidFill>
                  <a:schemeClr val="tx1"/>
                </a:solidFill>
              </a:rPr>
              <a:t>Detecting tumors in medical images like MRI and CT scans is a challenging and time-consuming task. Manual analysis by doctors can lead to errors due to image complexity and human fatigue. There is a need for an automated system that can accurately detect and classify tumors to support faster and more reliable diagnosis. This project aims to develop a deep learning-based solution using TensorFlow to identify tumors in medical images and assist healthcare professionals in making better decisions</a:t>
            </a:r>
            <a:r>
              <a:rPr lang="en-US" dirty="0"/>
              <a: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8" name="Rectangle 5">
            <a:extLst>
              <a:ext uri="{FF2B5EF4-FFF2-40B4-BE49-F238E27FC236}">
                <a16:creationId xmlns:a16="http://schemas.microsoft.com/office/drawing/2014/main" id="{1808FF6D-96D6-3841-6663-EA91B424DA63}"/>
              </a:ext>
            </a:extLst>
          </p:cNvPr>
          <p:cNvSpPr>
            <a:spLocks noChangeArrowheads="1"/>
          </p:cNvSpPr>
          <p:nvPr/>
        </p:nvSpPr>
        <p:spPr bwMode="auto">
          <a:xfrm>
            <a:off x="209863" y="1126665"/>
            <a:ext cx="36575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Goal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To develop an AI-based system using TensorFlow that can automatically detect tumors in medical images like MRI or CT scans with high accuracy and assist doctors in early diagnosis and treatment.</a:t>
            </a:r>
          </a:p>
          <a:p>
            <a:pPr>
              <a:buNone/>
            </a:pPr>
            <a:r>
              <a:rPr lang="en-US" sz="2000" b="1" dirty="0">
                <a:solidFill>
                  <a:schemeClr val="tx1"/>
                </a:solidFill>
              </a:rPr>
              <a:t>Expected Outcomes</a:t>
            </a:r>
          </a:p>
          <a:p>
            <a:pPr>
              <a:buFont typeface="Arial" panose="020B0604020202020204" pitchFamily="34" charset="0"/>
              <a:buChar char="•"/>
            </a:pPr>
            <a:r>
              <a:rPr lang="en-US" sz="1200" dirty="0">
                <a:solidFill>
                  <a:schemeClr val="tx1"/>
                </a:solidFill>
              </a:rPr>
              <a:t>1.A trained deep learning model that can identify tumors in images.</a:t>
            </a:r>
          </a:p>
          <a:p>
            <a:pPr>
              <a:buFont typeface="Arial" panose="020B0604020202020204" pitchFamily="34" charset="0"/>
              <a:buChar char="•"/>
            </a:pPr>
            <a:r>
              <a:rPr lang="en-US" sz="1200" dirty="0">
                <a:solidFill>
                  <a:schemeClr val="tx1"/>
                </a:solidFill>
              </a:rPr>
              <a:t>2.Improved speed and accuracy in tumor detection.</a:t>
            </a:r>
          </a:p>
          <a:p>
            <a:pPr>
              <a:buFont typeface="Arial" panose="020B0604020202020204" pitchFamily="34" charset="0"/>
              <a:buChar char="•"/>
            </a:pPr>
            <a:r>
              <a:rPr lang="en-US" sz="1200" dirty="0">
                <a:solidFill>
                  <a:schemeClr val="tx1"/>
                </a:solidFill>
              </a:rPr>
              <a:t>3.A user-friendly interface for uploading and analyzing medical images.</a:t>
            </a:r>
          </a:p>
          <a:p>
            <a:pPr>
              <a:buFont typeface="Arial" panose="020B0604020202020204" pitchFamily="34" charset="0"/>
              <a:buChar char="•"/>
            </a:pPr>
            <a:r>
              <a:rPr lang="en-US" sz="1200" dirty="0">
                <a:solidFill>
                  <a:schemeClr val="tx1"/>
                </a:solidFill>
              </a:rPr>
              <a:t>4.Reduced workload for doctors and support in making better decisions.</a:t>
            </a:r>
          </a:p>
          <a:p>
            <a:pPr>
              <a:buFont typeface="Arial" panose="020B0604020202020204" pitchFamily="34" charset="0"/>
              <a:buChar char="•"/>
            </a:pPr>
            <a:r>
              <a:rPr lang="en-US" sz="1200" dirty="0">
                <a:solidFill>
                  <a:schemeClr val="tx1"/>
                </a:solidFill>
              </a:rPr>
              <a:t>5.A reliable tool to assist in early and accurate cancer diagnosis</a:t>
            </a:r>
            <a:r>
              <a:rPr lang="en-US" sz="16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DD2A90FB-3D3D-2028-E549-01C2EFB4552F}"/>
              </a:ext>
            </a:extLst>
          </p:cNvPr>
          <p:cNvSpPr>
            <a:spLocks noChangeArrowheads="1"/>
          </p:cNvSpPr>
          <p:nvPr/>
        </p:nvSpPr>
        <p:spPr bwMode="auto">
          <a:xfrm>
            <a:off x="119922" y="388000"/>
            <a:ext cx="457949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accent6"/>
                </a:solidFill>
                <a:effectLst/>
                <a:latin typeface="Arial" panose="020B0604020202020204" pitchFamily="34" charset="0"/>
              </a:rPr>
              <a:t>GOAL AND EXPECTED OUTCOMES</a:t>
            </a:r>
            <a:r>
              <a:rPr kumimoji="0" lang="en-US" altLang="en-US" sz="1800" b="0" i="0" u="none" strike="noStrike" cap="none" normalizeH="0" baseline="0" dirty="0">
                <a:ln>
                  <a:noFill/>
                </a:ln>
                <a:solidFill>
                  <a:schemeClr val="accent6"/>
                </a:solidFill>
                <a:effectLst/>
                <a:latin typeface="Arial" panose="020B0604020202020204" pitchFamily="34" charset="0"/>
              </a:rPr>
              <a:t> </a:t>
            </a:r>
          </a:p>
        </p:txBody>
      </p:sp>
      <p:pic>
        <p:nvPicPr>
          <p:cNvPr id="2057" name="Picture 9">
            <a:extLst>
              <a:ext uri="{FF2B5EF4-FFF2-40B4-BE49-F238E27FC236}">
                <a16:creationId xmlns:a16="http://schemas.microsoft.com/office/drawing/2014/main" id="{56BE8CB1-44E7-67BB-67F5-F2884B064EE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11794" y="880443"/>
            <a:ext cx="4514850" cy="3875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3" name="Google Shape;403;p37"/>
          <p:cNvSpPr/>
          <p:nvPr/>
        </p:nvSpPr>
        <p:spPr>
          <a:xfrm>
            <a:off x="7642050" y="6054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7"/>
          <p:cNvSpPr/>
          <p:nvPr/>
        </p:nvSpPr>
        <p:spPr>
          <a:xfrm>
            <a:off x="8742325" y="3696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8742325" y="1853688"/>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6" name="Google Shape;406;p37"/>
          <p:cNvCxnSpPr>
            <a:stCxn id="403" idx="5"/>
            <a:endCxn id="405" idx="1"/>
          </p:cNvCxnSpPr>
          <p:nvPr/>
        </p:nvCxnSpPr>
        <p:spPr>
          <a:xfrm>
            <a:off x="7745757" y="709157"/>
            <a:ext cx="1006500" cy="1154400"/>
          </a:xfrm>
          <a:prstGeom prst="straightConnector1">
            <a:avLst/>
          </a:prstGeom>
          <a:noFill/>
          <a:ln w="9525" cap="flat" cmpd="sng">
            <a:solidFill>
              <a:schemeClr val="accent1"/>
            </a:solidFill>
            <a:prstDash val="solid"/>
            <a:round/>
            <a:headEnd type="none" w="med" len="med"/>
            <a:tailEnd type="none" w="med" len="med"/>
          </a:ln>
        </p:spPr>
      </p:cxnSp>
      <p:sp>
        <p:nvSpPr>
          <p:cNvPr id="407" name="Google Shape;407;p37"/>
          <p:cNvSpPr/>
          <p:nvPr/>
        </p:nvSpPr>
        <p:spPr>
          <a:xfrm rot="1688844">
            <a:off x="6922203" y="4358465"/>
            <a:ext cx="121465" cy="12146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8" name="Google Shape;408;p37"/>
          <p:cNvCxnSpPr>
            <a:stCxn id="403" idx="6"/>
            <a:endCxn id="404" idx="2"/>
          </p:cNvCxnSpPr>
          <p:nvPr/>
        </p:nvCxnSpPr>
        <p:spPr>
          <a:xfrm rot="10800000" flipH="1">
            <a:off x="7763550" y="403100"/>
            <a:ext cx="978900" cy="263100"/>
          </a:xfrm>
          <a:prstGeom prst="straightConnector1">
            <a:avLst/>
          </a:prstGeom>
          <a:noFill/>
          <a:ln w="9525" cap="flat" cmpd="sng">
            <a:solidFill>
              <a:schemeClr val="accent1"/>
            </a:solidFill>
            <a:prstDash val="solid"/>
            <a:round/>
            <a:headEnd type="none" w="med" len="med"/>
            <a:tailEnd type="none" w="med" len="med"/>
          </a:ln>
        </p:spPr>
      </p:cxnSp>
      <p:cxnSp>
        <p:nvCxnSpPr>
          <p:cNvPr id="409" name="Google Shape;409;p37"/>
          <p:cNvCxnSpPr>
            <a:stCxn id="410" idx="7"/>
            <a:endCxn id="407" idx="3"/>
          </p:cNvCxnSpPr>
          <p:nvPr/>
        </p:nvCxnSpPr>
        <p:spPr>
          <a:xfrm rot="10800000" flipH="1">
            <a:off x="6043459" y="4436841"/>
            <a:ext cx="881400" cy="360300"/>
          </a:xfrm>
          <a:prstGeom prst="straightConnector1">
            <a:avLst/>
          </a:prstGeom>
          <a:noFill/>
          <a:ln w="9525" cap="flat" cmpd="sng">
            <a:solidFill>
              <a:schemeClr val="accent1"/>
            </a:solidFill>
            <a:prstDash val="solid"/>
            <a:round/>
            <a:headEnd type="none" w="med" len="med"/>
            <a:tailEnd type="none" w="med" len="med"/>
          </a:ln>
        </p:spPr>
      </p:cxnSp>
      <p:sp>
        <p:nvSpPr>
          <p:cNvPr id="410" name="Google Shape;410;p37"/>
          <p:cNvSpPr/>
          <p:nvPr/>
        </p:nvSpPr>
        <p:spPr>
          <a:xfrm>
            <a:off x="5986100" y="47873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p:nvPr/>
        </p:nvSpPr>
        <p:spPr>
          <a:xfrm>
            <a:off x="4848225" y="5710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B8DC3910-2C7F-BB65-FA0B-F36AF7A40BBF}"/>
              </a:ext>
            </a:extLst>
          </p:cNvPr>
          <p:cNvSpPr txBox="1"/>
          <p:nvPr/>
        </p:nvSpPr>
        <p:spPr>
          <a:xfrm>
            <a:off x="401550" y="270023"/>
            <a:ext cx="8182630" cy="4770537"/>
          </a:xfrm>
          <a:prstGeom prst="rect">
            <a:avLst/>
          </a:prstGeom>
          <a:noFill/>
        </p:spPr>
        <p:txBody>
          <a:bodyPr wrap="square">
            <a:spAutoFit/>
          </a:bodyPr>
          <a:lstStyle/>
          <a:p>
            <a:r>
              <a:rPr lang="en-IN" sz="2400" dirty="0">
                <a:solidFill>
                  <a:schemeClr val="accent6"/>
                </a:solidFill>
              </a:rPr>
              <a:t>                  System Design and Methodology</a:t>
            </a:r>
          </a:p>
          <a:p>
            <a:pPr>
              <a:buNone/>
            </a:pPr>
            <a:endParaRPr lang="en-US" sz="1600" b="1" dirty="0">
              <a:solidFill>
                <a:schemeClr val="tx1"/>
              </a:solidFill>
            </a:endParaRPr>
          </a:p>
          <a:p>
            <a:pPr>
              <a:buNone/>
            </a:pPr>
            <a:r>
              <a:rPr lang="en-US" sz="1600" b="1" dirty="0">
                <a:solidFill>
                  <a:schemeClr val="tx1"/>
                </a:solidFill>
              </a:rPr>
              <a:t>1. Data Collection:</a:t>
            </a:r>
            <a:br>
              <a:rPr lang="en-US" sz="1600" dirty="0">
                <a:solidFill>
                  <a:schemeClr val="tx1"/>
                </a:solidFill>
              </a:rPr>
            </a:br>
            <a:r>
              <a:rPr lang="en-US" sz="1600" dirty="0">
                <a:solidFill>
                  <a:schemeClr val="tx1"/>
                </a:solidFill>
              </a:rPr>
              <a:t>Medical images (MRI/CT) are collected from public datasets for training and testing.</a:t>
            </a:r>
          </a:p>
          <a:p>
            <a:pPr>
              <a:buNone/>
            </a:pPr>
            <a:r>
              <a:rPr lang="en-US" sz="1600" b="1" dirty="0">
                <a:solidFill>
                  <a:schemeClr val="tx1"/>
                </a:solidFill>
              </a:rPr>
              <a:t>2. Data Preprocessing:</a:t>
            </a:r>
            <a:br>
              <a:rPr lang="en-US" sz="1600" dirty="0">
                <a:solidFill>
                  <a:schemeClr val="tx1"/>
                </a:solidFill>
              </a:rPr>
            </a:br>
            <a:r>
              <a:rPr lang="en-US" sz="1600" dirty="0">
                <a:solidFill>
                  <a:schemeClr val="tx1"/>
                </a:solidFill>
              </a:rPr>
              <a:t>Images are resized, normalized, and labeled. Augmentation is done to improve model performance</a:t>
            </a:r>
            <a:r>
              <a:rPr lang="en-US" dirty="0">
                <a:solidFill>
                  <a:schemeClr val="tx1"/>
                </a:solidFill>
              </a:rPr>
              <a:t>.</a:t>
            </a:r>
          </a:p>
          <a:p>
            <a:pPr>
              <a:buNone/>
            </a:pPr>
            <a:r>
              <a:rPr lang="en-US" sz="1600" b="1" dirty="0">
                <a:solidFill>
                  <a:schemeClr val="tx1"/>
                </a:solidFill>
              </a:rPr>
              <a:t>3. Model Building:</a:t>
            </a:r>
            <a:br>
              <a:rPr lang="en-US" sz="1600" dirty="0">
                <a:solidFill>
                  <a:schemeClr val="tx1"/>
                </a:solidFill>
              </a:rPr>
            </a:br>
            <a:r>
              <a:rPr lang="en-US" sz="1600" dirty="0">
                <a:solidFill>
                  <a:schemeClr val="tx1"/>
                </a:solidFill>
              </a:rPr>
              <a:t>A Convolutional Neural Network (CNN) is built using TensorFlow to learn patterns and detect tumors.</a:t>
            </a:r>
          </a:p>
          <a:p>
            <a:pPr>
              <a:buNone/>
            </a:pPr>
            <a:r>
              <a:rPr lang="en-US" sz="1600" b="1" dirty="0">
                <a:solidFill>
                  <a:schemeClr val="tx1"/>
                </a:solidFill>
              </a:rPr>
              <a:t>4. Training the Model:</a:t>
            </a:r>
            <a:br>
              <a:rPr lang="en-US" sz="1600" dirty="0">
                <a:solidFill>
                  <a:schemeClr val="tx1"/>
                </a:solidFill>
              </a:rPr>
            </a:br>
            <a:r>
              <a:rPr lang="en-US" sz="1600" dirty="0">
                <a:solidFill>
                  <a:schemeClr val="tx1"/>
                </a:solidFill>
              </a:rPr>
              <a:t>The model is trained on the preprocessed images, adjusting weights to improve accuracy.</a:t>
            </a:r>
          </a:p>
          <a:p>
            <a:pPr>
              <a:buNone/>
            </a:pPr>
            <a:r>
              <a:rPr lang="en-US" sz="1600" b="1" dirty="0">
                <a:solidFill>
                  <a:schemeClr val="tx1"/>
                </a:solidFill>
              </a:rPr>
              <a:t>5. Testing and Validation:</a:t>
            </a:r>
            <a:br>
              <a:rPr lang="en-US" sz="1600" dirty="0">
                <a:solidFill>
                  <a:schemeClr val="tx1"/>
                </a:solidFill>
              </a:rPr>
            </a:br>
            <a:r>
              <a:rPr lang="en-US" sz="1600" dirty="0">
                <a:solidFill>
                  <a:schemeClr val="tx1"/>
                </a:solidFill>
              </a:rPr>
              <a:t>The model is tested with new images to check how well it detects tumors.</a:t>
            </a:r>
          </a:p>
          <a:p>
            <a:r>
              <a:rPr lang="en-US" sz="1600" b="1" dirty="0">
                <a:solidFill>
                  <a:schemeClr val="tx1"/>
                </a:solidFill>
              </a:rPr>
              <a:t>6. Deployment:</a:t>
            </a:r>
            <a:br>
              <a:rPr lang="en-US" sz="1600" dirty="0">
                <a:solidFill>
                  <a:schemeClr val="tx1"/>
                </a:solidFill>
              </a:rPr>
            </a:br>
            <a:r>
              <a:rPr lang="en-US" sz="1600" dirty="0">
                <a:solidFill>
                  <a:schemeClr val="tx1"/>
                </a:solidFill>
              </a:rPr>
              <a:t>The trained model is deployed so it can be used in real-world applications.</a:t>
            </a:r>
          </a:p>
          <a:p>
            <a:endParaRPr lang="en-IN" sz="2400" dirty="0">
              <a:solidFill>
                <a:schemeClr val="accent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rgbClr val="0C0223"/>
            </a:gs>
          </a:gsLst>
          <a:path path="circle">
            <a:fillToRect l="50000" t="50000" r="50000" b="50000"/>
          </a:path>
          <a:tileRect/>
        </a:gradFill>
        <a:effectLst/>
      </p:bgPr>
    </p:bg>
    <p:spTree>
      <p:nvGrpSpPr>
        <p:cNvPr id="1" name="Shape 415"/>
        <p:cNvGrpSpPr/>
        <p:nvPr/>
      </p:nvGrpSpPr>
      <p:grpSpPr>
        <a:xfrm>
          <a:off x="0" y="0"/>
          <a:ext cx="0" cy="0"/>
          <a:chOff x="0" y="0"/>
          <a:chExt cx="0" cy="0"/>
        </a:xfrm>
      </p:grpSpPr>
      <p:sp>
        <p:nvSpPr>
          <p:cNvPr id="16" name="Title 15">
            <a:extLst>
              <a:ext uri="{FF2B5EF4-FFF2-40B4-BE49-F238E27FC236}">
                <a16:creationId xmlns:a16="http://schemas.microsoft.com/office/drawing/2014/main" id="{C9C6957A-A51D-D10D-241F-AAA570FBF0A1}"/>
              </a:ext>
            </a:extLst>
          </p:cNvPr>
          <p:cNvSpPr>
            <a:spLocks noGrp="1"/>
          </p:cNvSpPr>
          <p:nvPr>
            <p:ph type="title"/>
          </p:nvPr>
        </p:nvSpPr>
        <p:spPr/>
        <p:txBody>
          <a:bodyPr/>
          <a:lstStyle/>
          <a:p>
            <a:r>
              <a:rPr lang="en-US" sz="2800" dirty="0">
                <a:solidFill>
                  <a:schemeClr val="accent6"/>
                </a:solidFill>
              </a:rPr>
              <a:t>       IMPACTS, BENEFITS, CHALLENGES</a:t>
            </a:r>
            <a:endParaRPr lang="en-IN" sz="2800" dirty="0">
              <a:solidFill>
                <a:schemeClr val="accent6"/>
              </a:solidFill>
            </a:endParaRPr>
          </a:p>
        </p:txBody>
      </p:sp>
      <p:sp>
        <p:nvSpPr>
          <p:cNvPr id="28" name="TextBox 27">
            <a:extLst>
              <a:ext uri="{FF2B5EF4-FFF2-40B4-BE49-F238E27FC236}">
                <a16:creationId xmlns:a16="http://schemas.microsoft.com/office/drawing/2014/main" id="{95FB8863-AB46-AEDB-FAF9-DB70D5D464FA}"/>
              </a:ext>
            </a:extLst>
          </p:cNvPr>
          <p:cNvSpPr txBox="1"/>
          <p:nvPr/>
        </p:nvSpPr>
        <p:spPr>
          <a:xfrm>
            <a:off x="419725" y="1349673"/>
            <a:ext cx="4009870" cy="1231106"/>
          </a:xfrm>
          <a:prstGeom prst="rect">
            <a:avLst/>
          </a:prstGeom>
          <a:noFill/>
        </p:spPr>
        <p:txBody>
          <a:bodyPr wrap="square">
            <a:spAutoFit/>
          </a:bodyPr>
          <a:lstStyle/>
          <a:p>
            <a:pPr>
              <a:buNone/>
            </a:pPr>
            <a:r>
              <a:rPr lang="en-US" b="1" dirty="0">
                <a:solidFill>
                  <a:schemeClr val="tx1"/>
                </a:solidFill>
              </a:rPr>
              <a:t>Impacts:</a:t>
            </a:r>
          </a:p>
          <a:p>
            <a:pPr>
              <a:buFont typeface="Arial" panose="020B0604020202020204" pitchFamily="34" charset="0"/>
              <a:buChar char="•"/>
            </a:pPr>
            <a:r>
              <a:rPr lang="en-US" sz="1200" b="1" dirty="0">
                <a:solidFill>
                  <a:schemeClr val="tx1"/>
                </a:solidFill>
              </a:rPr>
              <a:t>Improved Accuracy</a:t>
            </a:r>
            <a:r>
              <a:rPr lang="en-US" sz="1200" dirty="0">
                <a:solidFill>
                  <a:schemeClr val="tx1"/>
                </a:solidFill>
              </a:rPr>
              <a:t> in tumor detection</a:t>
            </a:r>
          </a:p>
          <a:p>
            <a:pPr>
              <a:buFont typeface="Arial" panose="020B0604020202020204" pitchFamily="34" charset="0"/>
              <a:buChar char="•"/>
            </a:pPr>
            <a:r>
              <a:rPr lang="en-US" sz="1200" b="1" dirty="0">
                <a:solidFill>
                  <a:schemeClr val="tx1"/>
                </a:solidFill>
              </a:rPr>
              <a:t>Faster Diagnosis</a:t>
            </a:r>
            <a:r>
              <a:rPr lang="en-US" sz="1200" dirty="0">
                <a:solidFill>
                  <a:schemeClr val="tx1"/>
                </a:solidFill>
              </a:rPr>
              <a:t> for quicker treatment</a:t>
            </a:r>
          </a:p>
          <a:p>
            <a:pPr>
              <a:buFont typeface="Arial" panose="020B0604020202020204" pitchFamily="34" charset="0"/>
              <a:buChar char="•"/>
            </a:pPr>
            <a:r>
              <a:rPr lang="en-US" sz="1200" b="1" dirty="0">
                <a:solidFill>
                  <a:schemeClr val="tx1"/>
                </a:solidFill>
              </a:rPr>
              <a:t>Cost Efficiency</a:t>
            </a:r>
            <a:r>
              <a:rPr lang="en-US" sz="1200" dirty="0">
                <a:solidFill>
                  <a:schemeClr val="tx1"/>
                </a:solidFill>
              </a:rPr>
              <a:t> by reducing manual labor</a:t>
            </a:r>
          </a:p>
          <a:p>
            <a:pPr>
              <a:buFont typeface="Arial" panose="020B0604020202020204" pitchFamily="34" charset="0"/>
              <a:buChar char="•"/>
            </a:pPr>
            <a:r>
              <a:rPr lang="en-US" sz="1200" b="1" dirty="0">
                <a:solidFill>
                  <a:schemeClr val="tx1"/>
                </a:solidFill>
              </a:rPr>
              <a:t>Enhanced Patient Outcomes</a:t>
            </a:r>
            <a:r>
              <a:rPr lang="en-US" sz="1200" dirty="0">
                <a:solidFill>
                  <a:schemeClr val="tx1"/>
                </a:solidFill>
              </a:rPr>
              <a:t> through early detection</a:t>
            </a:r>
          </a:p>
          <a:p>
            <a:pPr>
              <a:buFont typeface="Arial" panose="020B0604020202020204" pitchFamily="34" charset="0"/>
              <a:buChar char="•"/>
            </a:pPr>
            <a:r>
              <a:rPr lang="en-US" sz="1200" b="1" dirty="0">
                <a:solidFill>
                  <a:schemeClr val="tx1"/>
                </a:solidFill>
              </a:rPr>
              <a:t>Accessible Healthcare</a:t>
            </a:r>
            <a:r>
              <a:rPr lang="en-US" sz="1200" dirty="0">
                <a:solidFill>
                  <a:schemeClr val="tx1"/>
                </a:solidFill>
              </a:rPr>
              <a:t> in remote areas</a:t>
            </a:r>
          </a:p>
        </p:txBody>
      </p:sp>
      <p:sp>
        <p:nvSpPr>
          <p:cNvPr id="30" name="TextBox 29">
            <a:extLst>
              <a:ext uri="{FF2B5EF4-FFF2-40B4-BE49-F238E27FC236}">
                <a16:creationId xmlns:a16="http://schemas.microsoft.com/office/drawing/2014/main" id="{4570C9F7-99D2-DB9F-E82C-8BF9B882BAC0}"/>
              </a:ext>
            </a:extLst>
          </p:cNvPr>
          <p:cNvSpPr txBox="1"/>
          <p:nvPr/>
        </p:nvSpPr>
        <p:spPr>
          <a:xfrm>
            <a:off x="4714406" y="1349673"/>
            <a:ext cx="4572000" cy="1231106"/>
          </a:xfrm>
          <a:prstGeom prst="rect">
            <a:avLst/>
          </a:prstGeom>
          <a:noFill/>
        </p:spPr>
        <p:txBody>
          <a:bodyPr wrap="square">
            <a:spAutoFit/>
          </a:bodyPr>
          <a:lstStyle/>
          <a:p>
            <a:pPr>
              <a:buNone/>
            </a:pPr>
            <a:r>
              <a:rPr lang="en-US" b="1" dirty="0">
                <a:solidFill>
                  <a:schemeClr val="tx1"/>
                </a:solidFill>
              </a:rPr>
              <a:t>Benefits:</a:t>
            </a:r>
          </a:p>
          <a:p>
            <a:pPr>
              <a:buFont typeface="Arial" panose="020B0604020202020204" pitchFamily="34" charset="0"/>
              <a:buChar char="•"/>
            </a:pPr>
            <a:r>
              <a:rPr lang="en-IN" sz="1200" b="1" dirty="0">
                <a:solidFill>
                  <a:schemeClr val="tx1"/>
                </a:solidFill>
              </a:rPr>
              <a:t>Consistency</a:t>
            </a:r>
            <a:r>
              <a:rPr lang="en-IN" sz="1200" dirty="0">
                <a:solidFill>
                  <a:schemeClr val="tx1"/>
                </a:solidFill>
              </a:rPr>
              <a:t> with error-free results</a:t>
            </a:r>
          </a:p>
          <a:p>
            <a:pPr>
              <a:buFont typeface="Arial" panose="020B0604020202020204" pitchFamily="34" charset="0"/>
              <a:buChar char="•"/>
            </a:pPr>
            <a:r>
              <a:rPr lang="en-US" sz="1200" b="1" dirty="0">
                <a:solidFill>
                  <a:schemeClr val="tx1"/>
                </a:solidFill>
              </a:rPr>
              <a:t>Scalability</a:t>
            </a:r>
            <a:r>
              <a:rPr lang="en-US" sz="1200" dirty="0">
                <a:solidFill>
                  <a:schemeClr val="tx1"/>
                </a:solidFill>
              </a:rPr>
              <a:t> for large data sets</a:t>
            </a:r>
          </a:p>
          <a:p>
            <a:pPr>
              <a:buFont typeface="Arial" panose="020B0604020202020204" pitchFamily="34" charset="0"/>
              <a:buChar char="•"/>
            </a:pPr>
            <a:r>
              <a:rPr lang="en-US" sz="1200" b="1" dirty="0">
                <a:solidFill>
                  <a:schemeClr val="tx1"/>
                </a:solidFill>
              </a:rPr>
              <a:t>Real-Time Feedback</a:t>
            </a:r>
            <a:r>
              <a:rPr lang="en-US" sz="1200" dirty="0">
                <a:solidFill>
                  <a:schemeClr val="tx1"/>
                </a:solidFill>
              </a:rPr>
              <a:t> to doctors</a:t>
            </a:r>
          </a:p>
          <a:p>
            <a:pPr>
              <a:buFont typeface="Arial" panose="020B0604020202020204" pitchFamily="34" charset="0"/>
              <a:buChar char="•"/>
            </a:pPr>
            <a:r>
              <a:rPr lang="en-US" sz="1200" b="1" dirty="0">
                <a:solidFill>
                  <a:schemeClr val="tx1"/>
                </a:solidFill>
              </a:rPr>
              <a:t>Data-Driven Insights</a:t>
            </a:r>
            <a:r>
              <a:rPr lang="en-US" sz="1200" dirty="0">
                <a:solidFill>
                  <a:schemeClr val="tx1"/>
                </a:solidFill>
              </a:rPr>
              <a:t> for research</a:t>
            </a:r>
          </a:p>
          <a:p>
            <a:pPr>
              <a:buFont typeface="Arial" panose="020B0604020202020204" pitchFamily="34" charset="0"/>
              <a:buChar char="•"/>
            </a:pPr>
            <a:r>
              <a:rPr lang="en-US" sz="1200" b="1" dirty="0">
                <a:solidFill>
                  <a:schemeClr val="tx1"/>
                </a:solidFill>
              </a:rPr>
              <a:t>Enhanced Doctor Efficiency</a:t>
            </a:r>
            <a:r>
              <a:rPr lang="en-US" sz="1200" dirty="0">
                <a:solidFill>
                  <a:schemeClr val="tx1"/>
                </a:solidFill>
              </a:rPr>
              <a:t> in handling cases</a:t>
            </a:r>
          </a:p>
        </p:txBody>
      </p:sp>
      <p:sp>
        <p:nvSpPr>
          <p:cNvPr id="32" name="TextBox 31">
            <a:extLst>
              <a:ext uri="{FF2B5EF4-FFF2-40B4-BE49-F238E27FC236}">
                <a16:creationId xmlns:a16="http://schemas.microsoft.com/office/drawing/2014/main" id="{6F789C56-820F-8C35-5D0C-E90022C56CAE}"/>
              </a:ext>
            </a:extLst>
          </p:cNvPr>
          <p:cNvSpPr txBox="1"/>
          <p:nvPr/>
        </p:nvSpPr>
        <p:spPr>
          <a:xfrm>
            <a:off x="2628901" y="2957608"/>
            <a:ext cx="4643202" cy="1231106"/>
          </a:xfrm>
          <a:prstGeom prst="rect">
            <a:avLst/>
          </a:prstGeom>
          <a:noFill/>
        </p:spPr>
        <p:txBody>
          <a:bodyPr wrap="square">
            <a:spAutoFit/>
          </a:bodyPr>
          <a:lstStyle/>
          <a:p>
            <a:pPr>
              <a:buNone/>
            </a:pPr>
            <a:r>
              <a:rPr lang="en-US" b="1" dirty="0">
                <a:solidFill>
                  <a:schemeClr val="tx1"/>
                </a:solidFill>
              </a:rPr>
              <a:t>Challenges:</a:t>
            </a:r>
          </a:p>
          <a:p>
            <a:pPr>
              <a:buFont typeface="Arial" panose="020B0604020202020204" pitchFamily="34" charset="0"/>
              <a:buChar char="•"/>
            </a:pPr>
            <a:r>
              <a:rPr lang="en-US" sz="1200" b="1" dirty="0">
                <a:solidFill>
                  <a:schemeClr val="tx1"/>
                </a:solidFill>
              </a:rPr>
              <a:t>Data Quality</a:t>
            </a:r>
            <a:r>
              <a:rPr lang="en-US" sz="1200" dirty="0">
                <a:solidFill>
                  <a:schemeClr val="tx1"/>
                </a:solidFill>
              </a:rPr>
              <a:t> and large dataset needs</a:t>
            </a:r>
          </a:p>
          <a:p>
            <a:pPr>
              <a:buFont typeface="Arial" panose="020B0604020202020204" pitchFamily="34" charset="0"/>
              <a:buChar char="•"/>
            </a:pPr>
            <a:r>
              <a:rPr lang="en-US" sz="1200" b="1" dirty="0">
                <a:solidFill>
                  <a:schemeClr val="tx1"/>
                </a:solidFill>
              </a:rPr>
              <a:t>Model Generalization</a:t>
            </a:r>
            <a:r>
              <a:rPr lang="en-US" sz="1200" dirty="0">
                <a:solidFill>
                  <a:schemeClr val="tx1"/>
                </a:solidFill>
              </a:rPr>
              <a:t> across diverse scans</a:t>
            </a:r>
          </a:p>
          <a:p>
            <a:pPr>
              <a:buFont typeface="Arial" panose="020B0604020202020204" pitchFamily="34" charset="0"/>
              <a:buChar char="•"/>
            </a:pPr>
            <a:r>
              <a:rPr lang="en-US" sz="1200" b="1" dirty="0">
                <a:solidFill>
                  <a:schemeClr val="tx1"/>
                </a:solidFill>
              </a:rPr>
              <a:t>Resource Intensive</a:t>
            </a:r>
            <a:r>
              <a:rPr lang="en-US" sz="1200" dirty="0">
                <a:solidFill>
                  <a:schemeClr val="tx1"/>
                </a:solidFill>
              </a:rPr>
              <a:t> in terms of computation</a:t>
            </a:r>
          </a:p>
          <a:p>
            <a:pPr>
              <a:buFont typeface="Arial" panose="020B0604020202020204" pitchFamily="34" charset="0"/>
              <a:buChar char="•"/>
            </a:pPr>
            <a:r>
              <a:rPr lang="en-US" sz="1200" b="1" dirty="0">
                <a:solidFill>
                  <a:schemeClr val="tx1"/>
                </a:solidFill>
              </a:rPr>
              <a:t>Interpretability</a:t>
            </a:r>
            <a:r>
              <a:rPr lang="en-US" sz="1200" dirty="0">
                <a:solidFill>
                  <a:schemeClr val="tx1"/>
                </a:solidFill>
              </a:rPr>
              <a:t> and trust in AI decisions</a:t>
            </a:r>
          </a:p>
          <a:p>
            <a:pPr>
              <a:buFont typeface="Arial" panose="020B0604020202020204" pitchFamily="34" charset="0"/>
              <a:buChar char="•"/>
            </a:pPr>
            <a:r>
              <a:rPr lang="en-US" sz="1200" b="1" dirty="0">
                <a:solidFill>
                  <a:schemeClr val="tx1"/>
                </a:solidFill>
              </a:rPr>
              <a:t>Regulatory &amp; Ethical Issues</a:t>
            </a:r>
            <a:r>
              <a:rPr lang="en-US" sz="1200" dirty="0">
                <a:solidFill>
                  <a:schemeClr val="tx1"/>
                </a:solidFill>
              </a:rPr>
              <a:t> in healthcare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16" name="Subtitle 15">
            <a:extLst>
              <a:ext uri="{FF2B5EF4-FFF2-40B4-BE49-F238E27FC236}">
                <a16:creationId xmlns:a16="http://schemas.microsoft.com/office/drawing/2014/main" id="{0DBB30DD-2EEC-4B51-053E-2B07D2C79F2C}"/>
              </a:ext>
            </a:extLst>
          </p:cNvPr>
          <p:cNvSpPr>
            <a:spLocks noGrp="1"/>
          </p:cNvSpPr>
          <p:nvPr>
            <p:ph type="subTitle" idx="1"/>
          </p:nvPr>
        </p:nvSpPr>
        <p:spPr>
          <a:xfrm>
            <a:off x="715292" y="2108947"/>
            <a:ext cx="3030000" cy="1815228"/>
          </a:xfrm>
        </p:spPr>
        <p:txBody>
          <a:bodyPr/>
          <a:lstStyle/>
          <a:p>
            <a:pPr>
              <a:buFont typeface="Arial" panose="020B0604020202020204" pitchFamily="34" charset="0"/>
              <a:buChar char="•"/>
            </a:pPr>
            <a:r>
              <a:rPr lang="en-IN" b="1" dirty="0"/>
              <a:t>Data Split:</a:t>
            </a:r>
            <a:r>
              <a:rPr lang="en-IN" dirty="0"/>
              <a:t> 70% training, 95% validation, 15% testing.</a:t>
            </a:r>
          </a:p>
          <a:p>
            <a:pPr>
              <a:buFont typeface="Arial" panose="020B0604020202020204" pitchFamily="34" charset="0"/>
              <a:buChar char="•"/>
            </a:pPr>
            <a:r>
              <a:rPr lang="en-IN" b="1" dirty="0"/>
              <a:t>Evaluation Metrics:</a:t>
            </a:r>
            <a:r>
              <a:rPr lang="en-IN" dirty="0"/>
              <a:t> Accuracy, Precision, Recall, F1-Score.</a:t>
            </a:r>
          </a:p>
          <a:p>
            <a:pPr>
              <a:buFont typeface="Arial" panose="020B0604020202020204" pitchFamily="34" charset="0"/>
              <a:buChar char="•"/>
            </a:pPr>
            <a:r>
              <a:rPr lang="en-IN" b="1" dirty="0"/>
              <a:t>Cross-Validation:</a:t>
            </a:r>
            <a:r>
              <a:rPr lang="en-IN" dirty="0"/>
              <a:t> Multiple splits to ensure generalization.</a:t>
            </a:r>
          </a:p>
          <a:p>
            <a:pPr>
              <a:buFont typeface="Arial" panose="020B0604020202020204" pitchFamily="34" charset="0"/>
              <a:buChar char="•"/>
            </a:pPr>
            <a:r>
              <a:rPr lang="en-IN" b="1" dirty="0"/>
              <a:t>Confusion Matrix:</a:t>
            </a:r>
            <a:r>
              <a:rPr lang="en-IN" dirty="0"/>
              <a:t> For performance visualization.</a:t>
            </a:r>
          </a:p>
          <a:p>
            <a:endParaRPr lang="en-IN" dirty="0"/>
          </a:p>
        </p:txBody>
      </p:sp>
      <p:sp>
        <p:nvSpPr>
          <p:cNvPr id="3" name="Title 2">
            <a:extLst>
              <a:ext uri="{FF2B5EF4-FFF2-40B4-BE49-F238E27FC236}">
                <a16:creationId xmlns:a16="http://schemas.microsoft.com/office/drawing/2014/main" id="{6354D0E9-E1D1-CEB2-B214-5C6A145AA266}"/>
              </a:ext>
            </a:extLst>
          </p:cNvPr>
          <p:cNvSpPr>
            <a:spLocks noGrp="1"/>
          </p:cNvSpPr>
          <p:nvPr>
            <p:ph type="title"/>
          </p:nvPr>
        </p:nvSpPr>
        <p:spPr/>
        <p:txBody>
          <a:bodyPr/>
          <a:lstStyle/>
          <a:p>
            <a:r>
              <a:rPr lang="en-US" sz="2800" dirty="0">
                <a:solidFill>
                  <a:schemeClr val="accent6"/>
                </a:solidFill>
              </a:rPr>
              <a:t>                TESTING AND RESULTS</a:t>
            </a:r>
            <a:endParaRPr lang="en-IN" sz="2800" dirty="0">
              <a:solidFill>
                <a:schemeClr val="accent6"/>
              </a:solidFill>
            </a:endParaRPr>
          </a:p>
        </p:txBody>
      </p:sp>
      <p:sp>
        <p:nvSpPr>
          <p:cNvPr id="18" name="Title 17">
            <a:extLst>
              <a:ext uri="{FF2B5EF4-FFF2-40B4-BE49-F238E27FC236}">
                <a16:creationId xmlns:a16="http://schemas.microsoft.com/office/drawing/2014/main" id="{9C30851D-A1BD-3372-5F73-36379477491B}"/>
              </a:ext>
            </a:extLst>
          </p:cNvPr>
          <p:cNvSpPr>
            <a:spLocks noGrp="1"/>
          </p:cNvSpPr>
          <p:nvPr>
            <p:ph type="title" idx="3"/>
          </p:nvPr>
        </p:nvSpPr>
        <p:spPr>
          <a:xfrm>
            <a:off x="720000" y="1587987"/>
            <a:ext cx="3034500" cy="527700"/>
          </a:xfrm>
        </p:spPr>
        <p:txBody>
          <a:bodyPr/>
          <a:lstStyle/>
          <a:p>
            <a:r>
              <a:rPr lang="en-IN" dirty="0"/>
              <a:t>             </a:t>
            </a:r>
            <a:r>
              <a:rPr lang="en-IN" dirty="0">
                <a:solidFill>
                  <a:schemeClr val="accent6"/>
                </a:solidFill>
              </a:rPr>
              <a:t>TESTING</a:t>
            </a:r>
          </a:p>
        </p:txBody>
      </p:sp>
      <p:sp>
        <p:nvSpPr>
          <p:cNvPr id="19" name="Title 18">
            <a:extLst>
              <a:ext uri="{FF2B5EF4-FFF2-40B4-BE49-F238E27FC236}">
                <a16:creationId xmlns:a16="http://schemas.microsoft.com/office/drawing/2014/main" id="{FC21A4BC-A959-5835-D90C-5225E619D519}"/>
              </a:ext>
            </a:extLst>
          </p:cNvPr>
          <p:cNvSpPr>
            <a:spLocks noGrp="1"/>
          </p:cNvSpPr>
          <p:nvPr>
            <p:ph type="title" idx="4"/>
          </p:nvPr>
        </p:nvSpPr>
        <p:spPr>
          <a:xfrm>
            <a:off x="4868882" y="1581247"/>
            <a:ext cx="3020400" cy="527700"/>
          </a:xfrm>
        </p:spPr>
        <p:txBody>
          <a:bodyPr/>
          <a:lstStyle/>
          <a:p>
            <a:r>
              <a:rPr lang="en-US" dirty="0">
                <a:solidFill>
                  <a:schemeClr val="accent6"/>
                </a:solidFill>
              </a:rPr>
              <a:t>               RESULTS</a:t>
            </a:r>
            <a:endParaRPr lang="en-IN" dirty="0">
              <a:solidFill>
                <a:schemeClr val="accent6"/>
              </a:solidFill>
            </a:endParaRPr>
          </a:p>
        </p:txBody>
      </p:sp>
      <p:sp>
        <p:nvSpPr>
          <p:cNvPr id="20" name="Rectangle 1">
            <a:extLst>
              <a:ext uri="{FF2B5EF4-FFF2-40B4-BE49-F238E27FC236}">
                <a16:creationId xmlns:a16="http://schemas.microsoft.com/office/drawing/2014/main" id="{B259EC7E-CD98-6BB9-9A24-BBBEF24BB961}"/>
              </a:ext>
            </a:extLst>
          </p:cNvPr>
          <p:cNvSpPr>
            <a:spLocks noGrp="1" noChangeArrowheads="1"/>
          </p:cNvSpPr>
          <p:nvPr>
            <p:ph type="subTitle" idx="2"/>
          </p:nvPr>
        </p:nvSpPr>
        <p:spPr bwMode="auto">
          <a:xfrm>
            <a:off x="4943834" y="2195417"/>
            <a:ext cx="33157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 Performance:</a:t>
            </a:r>
            <a:r>
              <a:rPr kumimoji="0" lang="en-US" altLang="en-US" b="0" i="0" u="none" strike="noStrike" cap="none" normalizeH="0" baseline="0" dirty="0">
                <a:ln>
                  <a:noFill/>
                </a:ln>
                <a:solidFill>
                  <a:schemeClr val="tx1"/>
                </a:solidFill>
                <a:effectLst/>
                <a:latin typeface="Arial" panose="020B0604020202020204" pitchFamily="34" charset="0"/>
              </a:rPr>
              <a:t> Aiming for 95% validation accuracy, with high Precision, Recall, and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Visual Validation:</a:t>
            </a:r>
            <a:r>
              <a:rPr kumimoji="0" lang="en-US" altLang="en-US" b="0" i="0" u="none" strike="noStrike" cap="none" normalizeH="0" baseline="0" dirty="0">
                <a:ln>
                  <a:noFill/>
                </a:ln>
                <a:solidFill>
                  <a:schemeClr val="tx1"/>
                </a:solidFill>
                <a:effectLst/>
                <a:latin typeface="Arial" panose="020B0604020202020204" pitchFamily="34" charset="0"/>
              </a:rPr>
              <a:t> Manually verified by medical experts.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Real-World Testing:</a:t>
            </a:r>
            <a:r>
              <a:rPr kumimoji="0" lang="en-US" altLang="en-US" b="0" i="0" u="none" strike="noStrike" cap="none" normalizeH="0" baseline="0" dirty="0">
                <a:ln>
                  <a:noFill/>
                </a:ln>
                <a:solidFill>
                  <a:schemeClr val="tx1"/>
                </a:solidFill>
                <a:effectLst/>
                <a:latin typeface="Arial" panose="020B0604020202020204" pitchFamily="34" charset="0"/>
              </a:rPr>
              <a:t> Evaluated on new, unseen medical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Final Outcome:</a:t>
            </a:r>
            <a:r>
              <a:rPr kumimoji="0" lang="en-US" altLang="en-US" b="0" i="0" u="none" strike="noStrike" cap="none" normalizeH="0" baseline="0" dirty="0">
                <a:ln>
                  <a:noFill/>
                </a:ln>
                <a:solidFill>
                  <a:schemeClr val="tx1"/>
                </a:solidFill>
                <a:effectLst/>
                <a:latin typeface="Arial" panose="020B0604020202020204" pitchFamily="34" charset="0"/>
              </a:rPr>
              <a:t> Model deployed for real-time u</a:t>
            </a:r>
            <a:r>
              <a:rPr lang="en-US" altLang="en-US" dirty="0">
                <a:solidFill>
                  <a:schemeClr val="tx1"/>
                </a:solidFill>
                <a:latin typeface="Arial" panose="020B0604020202020204" pitchFamily="34" charset="0"/>
              </a:rPr>
              <a:t>se.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3" name="Title 2">
            <a:extLst>
              <a:ext uri="{FF2B5EF4-FFF2-40B4-BE49-F238E27FC236}">
                <a16:creationId xmlns:a16="http://schemas.microsoft.com/office/drawing/2014/main" id="{6390BAE5-28D7-C574-F9C3-3FE84909A206}"/>
              </a:ext>
            </a:extLst>
          </p:cNvPr>
          <p:cNvSpPr>
            <a:spLocks noGrp="1"/>
          </p:cNvSpPr>
          <p:nvPr>
            <p:ph type="title"/>
          </p:nvPr>
        </p:nvSpPr>
        <p:spPr>
          <a:xfrm>
            <a:off x="337279" y="794833"/>
            <a:ext cx="5223600" cy="564300"/>
          </a:xfrm>
        </p:spPr>
        <p:txBody>
          <a:bodyPr/>
          <a:lstStyle/>
          <a:p>
            <a:r>
              <a:rPr lang="en-US" sz="2400" dirty="0">
                <a:solidFill>
                  <a:schemeClr val="accent6"/>
                </a:solidFill>
              </a:rPr>
              <a:t> CONCLUSION</a:t>
            </a:r>
            <a:endParaRPr lang="en-IN" sz="2400" dirty="0">
              <a:solidFill>
                <a:schemeClr val="accent6"/>
              </a:solidFill>
            </a:endParaRPr>
          </a:p>
        </p:txBody>
      </p:sp>
      <p:sp>
        <p:nvSpPr>
          <p:cNvPr id="21" name="TextBox 20">
            <a:extLst>
              <a:ext uri="{FF2B5EF4-FFF2-40B4-BE49-F238E27FC236}">
                <a16:creationId xmlns:a16="http://schemas.microsoft.com/office/drawing/2014/main" id="{2377339B-DEDD-8534-9363-7D9A63614DF5}"/>
              </a:ext>
            </a:extLst>
          </p:cNvPr>
          <p:cNvSpPr txBox="1"/>
          <p:nvPr/>
        </p:nvSpPr>
        <p:spPr>
          <a:xfrm>
            <a:off x="337279" y="1763158"/>
            <a:ext cx="4572000" cy="2246769"/>
          </a:xfrm>
          <a:prstGeom prst="rect">
            <a:avLst/>
          </a:prstGeom>
          <a:noFill/>
        </p:spPr>
        <p:txBody>
          <a:bodyPr wrap="square">
            <a:spAutoFit/>
          </a:bodyPr>
          <a:lstStyle/>
          <a:p>
            <a:r>
              <a:rPr lang="en-US" dirty="0">
                <a:solidFill>
                  <a:schemeClr val="tx1"/>
                </a:solidFill>
              </a:rPr>
              <a:t>The tumor detection system using TensorFlow is a powerful tool to make medical image analysis faster and more accurate. It helps find and identify tumors in MRI and CT scans with fewer mistakes and in less time. The goal is to reach 95% accuracy, which can help doctors detect tumors early and improve patient care. In the future, adding features like real-time detection and combining it with other medical tools will make the system even more helpful for doctors and researchers.</a:t>
            </a:r>
          </a:p>
        </p:txBody>
      </p:sp>
      <p:pic>
        <p:nvPicPr>
          <p:cNvPr id="6146" name="Picture 2" descr="Brain Tumor Detection and Classification on MR Images by a Deep Wavelet  Auto-Encoder Model">
            <a:extLst>
              <a:ext uri="{FF2B5EF4-FFF2-40B4-BE49-F238E27FC236}">
                <a16:creationId xmlns:a16="http://schemas.microsoft.com/office/drawing/2014/main" id="{204172A4-EE95-B0D6-D6ED-2253B2FB6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70" y="584616"/>
            <a:ext cx="3732551" cy="41447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3" name="Title 2">
            <a:extLst>
              <a:ext uri="{FF2B5EF4-FFF2-40B4-BE49-F238E27FC236}">
                <a16:creationId xmlns:a16="http://schemas.microsoft.com/office/drawing/2014/main" id="{B585FD27-64A7-D13A-76C1-593B7ADD53D6}"/>
              </a:ext>
            </a:extLst>
          </p:cNvPr>
          <p:cNvSpPr>
            <a:spLocks noGrp="1"/>
          </p:cNvSpPr>
          <p:nvPr>
            <p:ph type="title"/>
          </p:nvPr>
        </p:nvSpPr>
        <p:spPr>
          <a:xfrm>
            <a:off x="391521" y="869609"/>
            <a:ext cx="3033293" cy="3596065"/>
          </a:xfrm>
        </p:spPr>
        <p:txBody>
          <a:bodyPr/>
          <a:lstStyle/>
          <a:p>
            <a:r>
              <a:rPr lang="en-US" sz="3600" dirty="0">
                <a:solidFill>
                  <a:schemeClr val="accent6"/>
                </a:solidFill>
              </a:rPr>
              <a:t>THANK YOU</a:t>
            </a:r>
            <a:endParaRPr lang="en-IN" sz="3600" dirty="0">
              <a:solidFill>
                <a:schemeClr val="accent6"/>
              </a:solidFill>
            </a:endParaRPr>
          </a:p>
        </p:txBody>
      </p:sp>
      <p:pic>
        <p:nvPicPr>
          <p:cNvPr id="7170" name="Picture 2" descr="Brain Tumor | Cancer Treatment in Dubai">
            <a:extLst>
              <a:ext uri="{FF2B5EF4-FFF2-40B4-BE49-F238E27FC236}">
                <a16:creationId xmlns:a16="http://schemas.microsoft.com/office/drawing/2014/main" id="{E842F372-54E1-0711-8181-FF89C36A72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679" y="539999"/>
            <a:ext cx="4807800" cy="4455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rain Tumor Disease by Slidesgo">
  <a:themeElements>
    <a:clrScheme name="Simple Light">
      <a:dk1>
        <a:srgbClr val="FFFFFF"/>
      </a:dk1>
      <a:lt1>
        <a:srgbClr val="170C25"/>
      </a:lt1>
      <a:dk2>
        <a:srgbClr val="1F0065"/>
      </a:dk2>
      <a:lt2>
        <a:srgbClr val="0201BD"/>
      </a:lt2>
      <a:accent1>
        <a:srgbClr val="007FCA"/>
      </a:accent1>
      <a:accent2>
        <a:srgbClr val="00DBF6"/>
      </a:accent2>
      <a:accent3>
        <a:srgbClr val="00FFFD"/>
      </a:accent3>
      <a:accent4>
        <a:srgbClr val="51E0FF"/>
      </a:accent4>
      <a:accent5>
        <a:srgbClr val="DE002B"/>
      </a:accent5>
      <a:accent6>
        <a:srgbClr val="FF275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722</Words>
  <Application>Microsoft Office PowerPoint</Application>
  <PresentationFormat>On-screen Show (16:9)</PresentationFormat>
  <Paragraphs>56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Raleway</vt:lpstr>
      <vt:lpstr>Montserrat</vt:lpstr>
      <vt:lpstr>Brain Tumor Disease by Slidesgo</vt:lpstr>
      <vt:lpstr>Brain Tumor Detection  Using Tensor Flow    SUPERVISOR : DR. JOSEPH SUNDARAM      D. Nithya– AP23110020058 T.Kavya – AP23110020056  K. Deeksha – AP23110020064  R. Manvitha – AP23110020134  K. Manasa Sri– AP23110020135  P. Maneesha– AP23110020138</vt:lpstr>
      <vt:lpstr>INTRODUCTION</vt:lpstr>
      <vt:lpstr>PowerPoint Presentation</vt:lpstr>
      <vt:lpstr>PowerPoint Presentation</vt:lpstr>
      <vt:lpstr>PowerPoint Presentation</vt:lpstr>
      <vt:lpstr>       IMPACTS, BENEFITS, CHALLENGES</vt:lpstr>
      <vt:lpstr>                TESTING AND RESULTS</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Nithya santhoshi</dc:creator>
  <cp:lastModifiedBy>Nithya Santhoshi</cp:lastModifiedBy>
  <cp:revision>1</cp:revision>
  <dcterms:modified xsi:type="dcterms:W3CDTF">2025-04-20T12:35:58Z</dcterms:modified>
</cp:coreProperties>
</file>